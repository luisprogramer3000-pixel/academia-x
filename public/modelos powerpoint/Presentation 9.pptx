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stoga" charset="1" panose="00000500000000000000"/>
      <p:regular r:id="rId18"/>
    </p:embeddedFont>
    <p:embeddedFont>
      <p:font typeface="Lato" charset="1" panose="020F0502020204030203"/>
      <p:regular r:id="rId19"/>
    </p:embeddedFont>
    <p:embeddedFont>
      <p:font typeface="Lato Bold" charset="1" panose="020F0502020204030203"/>
      <p:regular r:id="rId20"/>
    </p:embeddedFont>
    <p:embeddedFont>
      <p:font typeface="Lato Heavy" charset="1" panose="020F05020202040302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4893037" y="7285069"/>
            <a:ext cx="8501926" cy="1350544"/>
            <a:chOff x="0" y="0"/>
            <a:chExt cx="2402139" cy="381584"/>
          </a:xfrm>
        </p:grpSpPr>
        <p:sp>
          <p:nvSpPr>
            <p:cNvPr name="Freeform 7" id="7"/>
            <p:cNvSpPr/>
            <p:nvPr/>
          </p:nvSpPr>
          <p:spPr>
            <a:xfrm flipH="false" flipV="false" rot="0">
              <a:off x="0" y="0"/>
              <a:ext cx="2402139" cy="381584"/>
            </a:xfrm>
            <a:custGeom>
              <a:avLst/>
              <a:gdLst/>
              <a:ahLst/>
              <a:cxnLst/>
              <a:rect r="r" b="b" t="t" l="l"/>
              <a:pathLst>
                <a:path h="381584" w="2402139">
                  <a:moveTo>
                    <a:pt x="46441" y="0"/>
                  </a:moveTo>
                  <a:lnTo>
                    <a:pt x="2355698" y="0"/>
                  </a:lnTo>
                  <a:cubicBezTo>
                    <a:pt x="2368015" y="0"/>
                    <a:pt x="2379827" y="4893"/>
                    <a:pt x="2388537" y="13602"/>
                  </a:cubicBezTo>
                  <a:cubicBezTo>
                    <a:pt x="2397246" y="22312"/>
                    <a:pt x="2402139" y="34124"/>
                    <a:pt x="2402139" y="46441"/>
                  </a:cubicBezTo>
                  <a:lnTo>
                    <a:pt x="2402139" y="335143"/>
                  </a:lnTo>
                  <a:cubicBezTo>
                    <a:pt x="2402139" y="360791"/>
                    <a:pt x="2381347" y="381584"/>
                    <a:pt x="2355698" y="381584"/>
                  </a:cubicBezTo>
                  <a:lnTo>
                    <a:pt x="46441" y="381584"/>
                  </a:lnTo>
                  <a:cubicBezTo>
                    <a:pt x="34124" y="381584"/>
                    <a:pt x="22312" y="376691"/>
                    <a:pt x="13602" y="367981"/>
                  </a:cubicBezTo>
                  <a:cubicBezTo>
                    <a:pt x="4893" y="359272"/>
                    <a:pt x="0" y="347459"/>
                    <a:pt x="0" y="335143"/>
                  </a:cubicBezTo>
                  <a:lnTo>
                    <a:pt x="0" y="46441"/>
                  </a:lnTo>
                  <a:cubicBezTo>
                    <a:pt x="0" y="34124"/>
                    <a:pt x="4893" y="22312"/>
                    <a:pt x="13602" y="13602"/>
                  </a:cubicBezTo>
                  <a:cubicBezTo>
                    <a:pt x="22312" y="4893"/>
                    <a:pt x="34124" y="0"/>
                    <a:pt x="46441" y="0"/>
                  </a:cubicBezTo>
                  <a:close/>
                </a:path>
              </a:pathLst>
            </a:custGeom>
            <a:ln w="38100" cap="rnd">
              <a:solidFill>
                <a:srgbClr val="000000"/>
              </a:solidFill>
              <a:prstDash val="solid"/>
              <a:round/>
            </a:ln>
          </p:spPr>
        </p:sp>
        <p:sp>
          <p:nvSpPr>
            <p:cNvPr name="TextBox 8" id="8"/>
            <p:cNvSpPr txBox="true"/>
            <p:nvPr/>
          </p:nvSpPr>
          <p:spPr>
            <a:xfrm>
              <a:off x="0" y="-28575"/>
              <a:ext cx="2402139" cy="410159"/>
            </a:xfrm>
            <a:prstGeom prst="rect">
              <a:avLst/>
            </a:prstGeom>
          </p:spPr>
          <p:txBody>
            <a:bodyPr anchor="ctr" rtlCol="false" tIns="50800" lIns="50800" bIns="50800" rIns="50800"/>
            <a:lstStyle/>
            <a:p>
              <a:pPr algn="ctr">
                <a:lnSpc>
                  <a:spcPts val="1960"/>
                </a:lnSpc>
              </a:pPr>
            </a:p>
          </p:txBody>
        </p:sp>
      </p:grpSp>
      <p:sp>
        <p:nvSpPr>
          <p:cNvPr name="Freeform 9" id="9"/>
          <p:cNvSpPr/>
          <p:nvPr/>
        </p:nvSpPr>
        <p:spPr>
          <a:xfrm flipH="false" flipV="false" rot="3755323">
            <a:off x="13317535" y="6815314"/>
            <a:ext cx="8571881" cy="4885972"/>
          </a:xfrm>
          <a:custGeom>
            <a:avLst/>
            <a:gdLst/>
            <a:ahLst/>
            <a:cxnLst/>
            <a:rect r="r" b="b" t="t" l="l"/>
            <a:pathLst>
              <a:path h="4885972" w="8571881">
                <a:moveTo>
                  <a:pt x="0" y="0"/>
                </a:moveTo>
                <a:lnTo>
                  <a:pt x="8571880" y="0"/>
                </a:lnTo>
                <a:lnTo>
                  <a:pt x="8571880" y="4885972"/>
                </a:lnTo>
                <a:lnTo>
                  <a:pt x="0" y="4885972"/>
                </a:lnTo>
                <a:lnTo>
                  <a:pt x="0" y="0"/>
                </a:lnTo>
                <a:close/>
              </a:path>
            </a:pathLst>
          </a:custGeom>
          <a:blipFill>
            <a:blip r:embed="rId3"/>
            <a:stretch>
              <a:fillRect l="0" t="0" r="0" b="0"/>
            </a:stretch>
          </a:blipFill>
        </p:spPr>
      </p:sp>
      <p:sp>
        <p:nvSpPr>
          <p:cNvPr name="Freeform 10" id="10"/>
          <p:cNvSpPr/>
          <p:nvPr/>
        </p:nvSpPr>
        <p:spPr>
          <a:xfrm flipH="false" flipV="false" rot="-1859289">
            <a:off x="12767773" y="-3685608"/>
            <a:ext cx="12273513" cy="8014203"/>
          </a:xfrm>
          <a:custGeom>
            <a:avLst/>
            <a:gdLst/>
            <a:ahLst/>
            <a:cxnLst/>
            <a:rect r="r" b="b" t="t" l="l"/>
            <a:pathLst>
              <a:path h="8014203" w="12273513">
                <a:moveTo>
                  <a:pt x="0" y="0"/>
                </a:moveTo>
                <a:lnTo>
                  <a:pt x="12273513" y="0"/>
                </a:lnTo>
                <a:lnTo>
                  <a:pt x="12273513" y="8014203"/>
                </a:lnTo>
                <a:lnTo>
                  <a:pt x="0" y="8014203"/>
                </a:lnTo>
                <a:lnTo>
                  <a:pt x="0" y="0"/>
                </a:lnTo>
                <a:close/>
              </a:path>
            </a:pathLst>
          </a:custGeom>
          <a:blipFill>
            <a:blip r:embed="rId4"/>
            <a:stretch>
              <a:fillRect l="0" t="-23893" r="-129498" b="0"/>
            </a:stretch>
          </a:blipFill>
        </p:spPr>
      </p:sp>
      <p:sp>
        <p:nvSpPr>
          <p:cNvPr name="Freeform 11" id="11"/>
          <p:cNvSpPr/>
          <p:nvPr/>
        </p:nvSpPr>
        <p:spPr>
          <a:xfrm flipH="false" flipV="false" rot="1440237">
            <a:off x="-2158968" y="4450770"/>
            <a:ext cx="5583567" cy="5668596"/>
          </a:xfrm>
          <a:custGeom>
            <a:avLst/>
            <a:gdLst/>
            <a:ahLst/>
            <a:cxnLst/>
            <a:rect r="r" b="b" t="t" l="l"/>
            <a:pathLst>
              <a:path h="5668596" w="5583567">
                <a:moveTo>
                  <a:pt x="0" y="0"/>
                </a:moveTo>
                <a:lnTo>
                  <a:pt x="5583567" y="0"/>
                </a:lnTo>
                <a:lnTo>
                  <a:pt x="5583567" y="5668597"/>
                </a:lnTo>
                <a:lnTo>
                  <a:pt x="0" y="5668597"/>
                </a:lnTo>
                <a:lnTo>
                  <a:pt x="0" y="0"/>
                </a:lnTo>
                <a:close/>
              </a:path>
            </a:pathLst>
          </a:custGeom>
          <a:blipFill>
            <a:blip r:embed="rId5"/>
            <a:stretch>
              <a:fillRect l="0" t="0" r="0" b="0"/>
            </a:stretch>
          </a:blipFill>
        </p:spPr>
      </p:sp>
      <p:sp>
        <p:nvSpPr>
          <p:cNvPr name="Freeform 12" id="12"/>
          <p:cNvSpPr/>
          <p:nvPr/>
        </p:nvSpPr>
        <p:spPr>
          <a:xfrm flipH="false" flipV="false" rot="-6505092">
            <a:off x="-3079751" y="-1242122"/>
            <a:ext cx="8216901" cy="5269088"/>
          </a:xfrm>
          <a:custGeom>
            <a:avLst/>
            <a:gdLst/>
            <a:ahLst/>
            <a:cxnLst/>
            <a:rect r="r" b="b" t="t" l="l"/>
            <a:pathLst>
              <a:path h="5269088" w="8216901">
                <a:moveTo>
                  <a:pt x="0" y="0"/>
                </a:moveTo>
                <a:lnTo>
                  <a:pt x="8216902" y="0"/>
                </a:lnTo>
                <a:lnTo>
                  <a:pt x="8216902" y="5269088"/>
                </a:lnTo>
                <a:lnTo>
                  <a:pt x="0" y="5269088"/>
                </a:lnTo>
                <a:lnTo>
                  <a:pt x="0" y="0"/>
                </a:lnTo>
                <a:close/>
              </a:path>
            </a:pathLst>
          </a:custGeom>
          <a:blipFill>
            <a:blip r:embed="rId6"/>
            <a:stretch>
              <a:fillRect l="0" t="0" r="0" b="0"/>
            </a:stretch>
          </a:blipFill>
        </p:spPr>
      </p:sp>
      <p:sp>
        <p:nvSpPr>
          <p:cNvPr name="Freeform 13" id="13"/>
          <p:cNvSpPr/>
          <p:nvPr/>
        </p:nvSpPr>
        <p:spPr>
          <a:xfrm flipH="false" flipV="false" rot="-2221901">
            <a:off x="49461" y="-11377901"/>
            <a:ext cx="9687153" cy="12746254"/>
          </a:xfrm>
          <a:custGeom>
            <a:avLst/>
            <a:gdLst/>
            <a:ahLst/>
            <a:cxnLst/>
            <a:rect r="r" b="b" t="t" l="l"/>
            <a:pathLst>
              <a:path h="12746254" w="9687153">
                <a:moveTo>
                  <a:pt x="0" y="0"/>
                </a:moveTo>
                <a:lnTo>
                  <a:pt x="9687153" y="0"/>
                </a:lnTo>
                <a:lnTo>
                  <a:pt x="9687153" y="12746254"/>
                </a:lnTo>
                <a:lnTo>
                  <a:pt x="0" y="12746254"/>
                </a:lnTo>
                <a:lnTo>
                  <a:pt x="0" y="0"/>
                </a:lnTo>
                <a:close/>
              </a:path>
            </a:pathLst>
          </a:custGeom>
          <a:blipFill>
            <a:blip r:embed="rId7"/>
            <a:stretch>
              <a:fillRect l="0" t="0" r="0" b="0"/>
            </a:stretch>
          </a:blipFill>
        </p:spPr>
      </p:sp>
      <p:sp>
        <p:nvSpPr>
          <p:cNvPr name="Freeform 14" id="14"/>
          <p:cNvSpPr/>
          <p:nvPr/>
        </p:nvSpPr>
        <p:spPr>
          <a:xfrm flipH="false" flipV="false" rot="4661547">
            <a:off x="5062489" y="7956960"/>
            <a:ext cx="3013834" cy="5467273"/>
          </a:xfrm>
          <a:custGeom>
            <a:avLst/>
            <a:gdLst/>
            <a:ahLst/>
            <a:cxnLst/>
            <a:rect r="r" b="b" t="t" l="l"/>
            <a:pathLst>
              <a:path h="5467273" w="3013834">
                <a:moveTo>
                  <a:pt x="0" y="0"/>
                </a:moveTo>
                <a:lnTo>
                  <a:pt x="3013834" y="0"/>
                </a:lnTo>
                <a:lnTo>
                  <a:pt x="3013834" y="5467273"/>
                </a:lnTo>
                <a:lnTo>
                  <a:pt x="0" y="5467273"/>
                </a:lnTo>
                <a:lnTo>
                  <a:pt x="0" y="0"/>
                </a:lnTo>
                <a:close/>
              </a:path>
            </a:pathLst>
          </a:custGeom>
          <a:blipFill>
            <a:blip r:embed="rId8"/>
            <a:stretch>
              <a:fillRect l="0" t="0" r="0" b="0"/>
            </a:stretch>
          </a:blipFill>
        </p:spPr>
      </p:sp>
      <p:sp>
        <p:nvSpPr>
          <p:cNvPr name="TextBox 15" id="15"/>
          <p:cNvSpPr txBox="true"/>
          <p:nvPr/>
        </p:nvSpPr>
        <p:spPr>
          <a:xfrm rot="0">
            <a:off x="4893037" y="2016592"/>
            <a:ext cx="8501926" cy="4899660"/>
          </a:xfrm>
          <a:prstGeom prst="rect">
            <a:avLst/>
          </a:prstGeom>
        </p:spPr>
        <p:txBody>
          <a:bodyPr anchor="t" rtlCol="false" tIns="0" lIns="0" bIns="0" rIns="0">
            <a:spAutoFit/>
          </a:bodyPr>
          <a:lstStyle/>
          <a:p>
            <a:pPr algn="ctr">
              <a:lnSpc>
                <a:spcPts val="12870"/>
              </a:lnSpc>
            </a:pPr>
            <a:r>
              <a:rPr lang="en-US" sz="11000" spc="429">
                <a:solidFill>
                  <a:srgbClr val="3B3B3B"/>
                </a:solidFill>
                <a:latin typeface="Calistoga"/>
                <a:ea typeface="Calistoga"/>
                <a:cs typeface="Calistoga"/>
                <a:sym typeface="Calistoga"/>
              </a:rPr>
              <a:t>Creative </a:t>
            </a:r>
          </a:p>
          <a:p>
            <a:pPr algn="ctr">
              <a:lnSpc>
                <a:spcPts val="12870"/>
              </a:lnSpc>
            </a:pPr>
            <a:r>
              <a:rPr lang="en-US" sz="11000" spc="429">
                <a:solidFill>
                  <a:srgbClr val="3B3B3B"/>
                </a:solidFill>
                <a:latin typeface="Calistoga"/>
                <a:ea typeface="Calistoga"/>
                <a:cs typeface="Calistoga"/>
                <a:sym typeface="Calistoga"/>
              </a:rPr>
              <a:t>Writing </a:t>
            </a:r>
          </a:p>
          <a:p>
            <a:pPr algn="ctr">
              <a:lnSpc>
                <a:spcPts val="12870"/>
              </a:lnSpc>
            </a:pPr>
            <a:r>
              <a:rPr lang="en-US" sz="11000" spc="429">
                <a:solidFill>
                  <a:srgbClr val="3B3B3B"/>
                </a:solidFill>
                <a:latin typeface="Calistoga"/>
                <a:ea typeface="Calistoga"/>
                <a:cs typeface="Calistoga"/>
                <a:sym typeface="Calistoga"/>
              </a:rPr>
              <a:t>Prompts</a:t>
            </a:r>
          </a:p>
        </p:txBody>
      </p:sp>
      <p:sp>
        <p:nvSpPr>
          <p:cNvPr name="Freeform 16" id="16"/>
          <p:cNvSpPr/>
          <p:nvPr/>
        </p:nvSpPr>
        <p:spPr>
          <a:xfrm flipH="false" flipV="false" rot="2189920">
            <a:off x="11241582" y="9462091"/>
            <a:ext cx="5583567" cy="5668596"/>
          </a:xfrm>
          <a:custGeom>
            <a:avLst/>
            <a:gdLst/>
            <a:ahLst/>
            <a:cxnLst/>
            <a:rect r="r" b="b" t="t" l="l"/>
            <a:pathLst>
              <a:path h="5668596" w="5583567">
                <a:moveTo>
                  <a:pt x="0" y="0"/>
                </a:moveTo>
                <a:lnTo>
                  <a:pt x="5583567" y="0"/>
                </a:lnTo>
                <a:lnTo>
                  <a:pt x="5583567" y="5668596"/>
                </a:lnTo>
                <a:lnTo>
                  <a:pt x="0" y="5668596"/>
                </a:lnTo>
                <a:lnTo>
                  <a:pt x="0" y="0"/>
                </a:lnTo>
                <a:close/>
              </a:path>
            </a:pathLst>
          </a:custGeom>
          <a:blipFill>
            <a:blip r:embed="rId5"/>
            <a:stretch>
              <a:fillRect l="0" t="0" r="0" b="0"/>
            </a:stretch>
          </a:blipFill>
        </p:spPr>
      </p:sp>
      <p:sp>
        <p:nvSpPr>
          <p:cNvPr name="TextBox 17" id="17"/>
          <p:cNvSpPr txBox="true"/>
          <p:nvPr/>
        </p:nvSpPr>
        <p:spPr>
          <a:xfrm rot="0">
            <a:off x="5063212" y="7519898"/>
            <a:ext cx="8161576" cy="837517"/>
          </a:xfrm>
          <a:prstGeom prst="rect">
            <a:avLst/>
          </a:prstGeom>
        </p:spPr>
        <p:txBody>
          <a:bodyPr anchor="t" rtlCol="false" tIns="0" lIns="0" bIns="0" rIns="0">
            <a:spAutoFit/>
          </a:bodyPr>
          <a:lstStyle/>
          <a:p>
            <a:pPr algn="ctr">
              <a:lnSpc>
                <a:spcPts val="6543"/>
              </a:lnSpc>
            </a:pPr>
            <a:r>
              <a:rPr lang="en-US" sz="5592" spc="341">
                <a:solidFill>
                  <a:srgbClr val="3B3B3B"/>
                </a:solidFill>
                <a:latin typeface="Lato"/>
                <a:ea typeface="Lato"/>
                <a:cs typeface="Lato"/>
                <a:sym typeface="Lato"/>
              </a:rPr>
              <a:t>to practice core skills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567052" y="1410483"/>
            <a:ext cx="4989285" cy="2300766"/>
            <a:chOff x="0" y="0"/>
            <a:chExt cx="1314050" cy="605963"/>
          </a:xfrm>
        </p:grpSpPr>
        <p:sp>
          <p:nvSpPr>
            <p:cNvPr name="Freeform 7" id="7"/>
            <p:cNvSpPr/>
            <p:nvPr/>
          </p:nvSpPr>
          <p:spPr>
            <a:xfrm flipH="false" flipV="false" rot="0">
              <a:off x="0" y="0"/>
              <a:ext cx="1314051" cy="605963"/>
            </a:xfrm>
            <a:custGeom>
              <a:avLst/>
              <a:gdLst/>
              <a:ahLst/>
              <a:cxnLst/>
              <a:rect r="r" b="b" t="t" l="l"/>
              <a:pathLst>
                <a:path h="605963" w="1314051">
                  <a:moveTo>
                    <a:pt x="23276" y="0"/>
                  </a:moveTo>
                  <a:lnTo>
                    <a:pt x="1290775" y="0"/>
                  </a:lnTo>
                  <a:cubicBezTo>
                    <a:pt x="1303630" y="0"/>
                    <a:pt x="1314051" y="10421"/>
                    <a:pt x="1314051" y="23276"/>
                  </a:cubicBezTo>
                  <a:lnTo>
                    <a:pt x="1314051" y="582687"/>
                  </a:lnTo>
                  <a:cubicBezTo>
                    <a:pt x="1314051" y="595542"/>
                    <a:pt x="1303630" y="605963"/>
                    <a:pt x="1290775" y="605963"/>
                  </a:cubicBezTo>
                  <a:lnTo>
                    <a:pt x="23276" y="605963"/>
                  </a:lnTo>
                  <a:cubicBezTo>
                    <a:pt x="10421" y="605963"/>
                    <a:pt x="0" y="595542"/>
                    <a:pt x="0" y="582687"/>
                  </a:cubicBezTo>
                  <a:lnTo>
                    <a:pt x="0" y="23276"/>
                  </a:lnTo>
                  <a:cubicBezTo>
                    <a:pt x="0" y="10421"/>
                    <a:pt x="10421" y="0"/>
                    <a:pt x="23276" y="0"/>
                  </a:cubicBezTo>
                  <a:close/>
                </a:path>
              </a:pathLst>
            </a:custGeom>
            <a:ln w="38100" cap="sq">
              <a:solidFill>
                <a:srgbClr val="000000"/>
              </a:solidFill>
              <a:prstDash val="solid"/>
              <a:miter/>
            </a:ln>
          </p:spPr>
        </p:sp>
        <p:sp>
          <p:nvSpPr>
            <p:cNvPr name="TextBox 8" id="8"/>
            <p:cNvSpPr txBox="true"/>
            <p:nvPr/>
          </p:nvSpPr>
          <p:spPr>
            <a:xfrm>
              <a:off x="0" y="-28575"/>
              <a:ext cx="1314050" cy="634538"/>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1980709" y="1673137"/>
            <a:ext cx="4174927" cy="1784983"/>
          </a:xfrm>
          <a:prstGeom prst="rect">
            <a:avLst/>
          </a:prstGeom>
        </p:spPr>
        <p:txBody>
          <a:bodyPr anchor="t" rtlCol="false" tIns="0" lIns="0" bIns="0" rIns="0">
            <a:spAutoFit/>
          </a:bodyPr>
          <a:lstStyle/>
          <a:p>
            <a:pPr algn="l">
              <a:lnSpc>
                <a:spcPts val="7019"/>
              </a:lnSpc>
            </a:pPr>
            <a:r>
              <a:rPr lang="en-US" sz="5999" spc="365">
                <a:solidFill>
                  <a:srgbClr val="3B3B3B"/>
                </a:solidFill>
                <a:latin typeface="Calistoga"/>
                <a:ea typeface="Calistoga"/>
                <a:cs typeface="Calistoga"/>
                <a:sym typeface="Calistoga"/>
              </a:rPr>
              <a:t>Learning Objectives</a:t>
            </a:r>
          </a:p>
        </p:txBody>
      </p:sp>
      <p:sp>
        <p:nvSpPr>
          <p:cNvPr name="TextBox 10" id="10"/>
          <p:cNvSpPr txBox="true"/>
          <p:nvPr/>
        </p:nvSpPr>
        <p:spPr>
          <a:xfrm rot="0">
            <a:off x="7001406" y="1343808"/>
            <a:ext cx="9703211" cy="9861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Develop compelling </a:t>
            </a:r>
            <a:r>
              <a:rPr lang="en-US" b="true" sz="2800">
                <a:solidFill>
                  <a:srgbClr val="000000"/>
                </a:solidFill>
                <a:latin typeface="Lato Bold"/>
                <a:ea typeface="Lato Bold"/>
                <a:cs typeface="Lato Bold"/>
                <a:sym typeface="Lato Bold"/>
              </a:rPr>
              <a:t>characters </a:t>
            </a:r>
            <a:r>
              <a:rPr lang="en-US" sz="2800">
                <a:solidFill>
                  <a:srgbClr val="000000"/>
                </a:solidFill>
                <a:latin typeface="Lato"/>
                <a:ea typeface="Lato"/>
                <a:cs typeface="Lato"/>
                <a:sym typeface="Lato"/>
              </a:rPr>
              <a:t>by utilising detailed descriptions and indirect characterisation techniques.</a:t>
            </a:r>
          </a:p>
        </p:txBody>
      </p:sp>
      <p:sp>
        <p:nvSpPr>
          <p:cNvPr name="TextBox 11" id="11"/>
          <p:cNvSpPr txBox="true"/>
          <p:nvPr/>
        </p:nvSpPr>
        <p:spPr>
          <a:xfrm rot="0">
            <a:off x="1567052" y="4230634"/>
            <a:ext cx="4989285" cy="4948555"/>
          </a:xfrm>
          <a:prstGeom prst="rect">
            <a:avLst/>
          </a:prstGeom>
        </p:spPr>
        <p:txBody>
          <a:bodyPr anchor="t" rtlCol="false" tIns="0" lIns="0" bIns="0" rIns="0">
            <a:spAutoFit/>
          </a:bodyPr>
          <a:lstStyle/>
          <a:p>
            <a:pPr algn="l">
              <a:lnSpc>
                <a:spcPts val="3920"/>
              </a:lnSpc>
            </a:pPr>
            <a:r>
              <a:rPr lang="en-US" sz="2800">
                <a:solidFill>
                  <a:srgbClr val="000000"/>
                </a:solidFill>
                <a:latin typeface="Lato"/>
                <a:ea typeface="Lato"/>
                <a:cs typeface="Lato"/>
                <a:sym typeface="Lato"/>
              </a:rPr>
              <a:t>This presentation includes targeted writing prompts designed to focus on each core aspect of narrative writing, ensuring students develop a comprehensive and nuanced approach to storytelling. </a:t>
            </a:r>
          </a:p>
          <a:p>
            <a:pPr algn="l">
              <a:lnSpc>
                <a:spcPts val="3920"/>
              </a:lnSpc>
            </a:pPr>
          </a:p>
          <a:p>
            <a:pPr algn="l">
              <a:lnSpc>
                <a:spcPts val="3920"/>
              </a:lnSpc>
            </a:pPr>
            <a:r>
              <a:rPr lang="en-US" sz="2800">
                <a:solidFill>
                  <a:srgbClr val="000000"/>
                </a:solidFill>
                <a:latin typeface="Lato"/>
                <a:ea typeface="Lato"/>
                <a:cs typeface="Lato"/>
                <a:sym typeface="Lato"/>
              </a:rPr>
              <a:t>By the end of these activities, students should be able to:</a:t>
            </a:r>
          </a:p>
        </p:txBody>
      </p:sp>
      <p:sp>
        <p:nvSpPr>
          <p:cNvPr name="TextBox 12" id="12"/>
          <p:cNvSpPr txBox="true"/>
          <p:nvPr/>
        </p:nvSpPr>
        <p:spPr>
          <a:xfrm rot="0">
            <a:off x="7001406" y="8193034"/>
            <a:ext cx="9703211" cy="9861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Demonstrate how employing various </a:t>
            </a:r>
            <a:r>
              <a:rPr lang="en-US" b="true" sz="2800">
                <a:solidFill>
                  <a:srgbClr val="000000"/>
                </a:solidFill>
                <a:latin typeface="Lato Bold"/>
                <a:ea typeface="Lato Bold"/>
                <a:cs typeface="Lato Bold"/>
                <a:sym typeface="Lato Bold"/>
              </a:rPr>
              <a:t>perspectives </a:t>
            </a:r>
            <a:r>
              <a:rPr lang="en-US" sz="2800">
                <a:solidFill>
                  <a:srgbClr val="000000"/>
                </a:solidFill>
                <a:latin typeface="Lato"/>
                <a:ea typeface="Lato"/>
                <a:cs typeface="Lato"/>
                <a:sym typeface="Lato"/>
              </a:rPr>
              <a:t>can shape or influence a narrative.</a:t>
            </a:r>
          </a:p>
        </p:txBody>
      </p:sp>
      <p:sp>
        <p:nvSpPr>
          <p:cNvPr name="TextBox 13" id="13"/>
          <p:cNvSpPr txBox="true"/>
          <p:nvPr/>
        </p:nvSpPr>
        <p:spPr>
          <a:xfrm rot="0">
            <a:off x="7001406" y="2713653"/>
            <a:ext cx="9703211" cy="9861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Create immersive </a:t>
            </a:r>
            <a:r>
              <a:rPr lang="en-US" b="true" sz="2800">
                <a:solidFill>
                  <a:srgbClr val="000000"/>
                </a:solidFill>
                <a:latin typeface="Lato Bold"/>
                <a:ea typeface="Lato Bold"/>
                <a:cs typeface="Lato Bold"/>
                <a:sym typeface="Lato Bold"/>
              </a:rPr>
              <a:t>settings </a:t>
            </a:r>
            <a:r>
              <a:rPr lang="en-US" sz="2800">
                <a:solidFill>
                  <a:srgbClr val="000000"/>
                </a:solidFill>
                <a:latin typeface="Lato"/>
                <a:ea typeface="Lato"/>
                <a:cs typeface="Lato"/>
                <a:sym typeface="Lato"/>
              </a:rPr>
              <a:t>that enhance the story and engage readers through vivid imagery and sensory details.</a:t>
            </a:r>
          </a:p>
        </p:txBody>
      </p:sp>
      <p:sp>
        <p:nvSpPr>
          <p:cNvPr name="TextBox 14" id="14"/>
          <p:cNvSpPr txBox="true"/>
          <p:nvPr/>
        </p:nvSpPr>
        <p:spPr>
          <a:xfrm rot="0">
            <a:off x="7001406" y="4083498"/>
            <a:ext cx="9703211" cy="9861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Establish and maintain a consistent </a:t>
            </a:r>
            <a:r>
              <a:rPr lang="en-US" b="true" sz="2800">
                <a:solidFill>
                  <a:srgbClr val="000000"/>
                </a:solidFill>
                <a:latin typeface="Lato Bold"/>
                <a:ea typeface="Lato Bold"/>
                <a:cs typeface="Lato Bold"/>
                <a:sym typeface="Lato Bold"/>
              </a:rPr>
              <a:t>mood</a:t>
            </a:r>
            <a:r>
              <a:rPr lang="en-US" sz="2800">
                <a:solidFill>
                  <a:srgbClr val="000000"/>
                </a:solidFill>
                <a:latin typeface="Lato"/>
                <a:ea typeface="Lato"/>
                <a:cs typeface="Lato"/>
                <a:sym typeface="Lato"/>
              </a:rPr>
              <a:t> throughout their narrative using tone, language, and stylistic choices.</a:t>
            </a:r>
          </a:p>
        </p:txBody>
      </p:sp>
      <p:sp>
        <p:nvSpPr>
          <p:cNvPr name="TextBox 15" id="15"/>
          <p:cNvSpPr txBox="true"/>
          <p:nvPr/>
        </p:nvSpPr>
        <p:spPr>
          <a:xfrm rot="0">
            <a:off x="7001406" y="5453343"/>
            <a:ext cx="9703211" cy="9861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Experiment with unconventional narrative </a:t>
            </a:r>
            <a:r>
              <a:rPr lang="en-US" b="true" sz="2800">
                <a:solidFill>
                  <a:srgbClr val="000000"/>
                </a:solidFill>
                <a:latin typeface="Lato Bold"/>
                <a:ea typeface="Lato Bold"/>
                <a:cs typeface="Lato Bold"/>
                <a:sym typeface="Lato Bold"/>
              </a:rPr>
              <a:t>structures </a:t>
            </a:r>
            <a:r>
              <a:rPr lang="en-US" sz="2800">
                <a:solidFill>
                  <a:srgbClr val="000000"/>
                </a:solidFill>
                <a:latin typeface="Lato"/>
                <a:ea typeface="Lato"/>
                <a:cs typeface="Lato"/>
                <a:sym typeface="Lato"/>
              </a:rPr>
              <a:t>with appropriate pacing and transitions.</a:t>
            </a:r>
          </a:p>
        </p:txBody>
      </p:sp>
      <p:sp>
        <p:nvSpPr>
          <p:cNvPr name="TextBox 16" id="16"/>
          <p:cNvSpPr txBox="true"/>
          <p:nvPr/>
        </p:nvSpPr>
        <p:spPr>
          <a:xfrm rot="0">
            <a:off x="7001406" y="6823189"/>
            <a:ext cx="9703211" cy="9861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Cultivate distinct narrative </a:t>
            </a:r>
            <a:r>
              <a:rPr lang="en-US" b="true" sz="2800">
                <a:solidFill>
                  <a:srgbClr val="000000"/>
                </a:solidFill>
                <a:latin typeface="Lato Bold"/>
                <a:ea typeface="Lato Bold"/>
                <a:cs typeface="Lato Bold"/>
                <a:sym typeface="Lato Bold"/>
              </a:rPr>
              <a:t>voices </a:t>
            </a:r>
            <a:r>
              <a:rPr lang="en-US" sz="2800">
                <a:solidFill>
                  <a:srgbClr val="000000"/>
                </a:solidFill>
                <a:latin typeface="Lato"/>
                <a:ea typeface="Lato"/>
                <a:cs typeface="Lato"/>
                <a:sym typeface="Lato"/>
              </a:rPr>
              <a:t>that reflect the unique style and personality of the characters or narrator.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sp>
        <p:nvSpPr>
          <p:cNvPr name="Freeform 6" id="6"/>
          <p:cNvSpPr/>
          <p:nvPr/>
        </p:nvSpPr>
        <p:spPr>
          <a:xfrm flipH="false" flipV="false" rot="-1478056">
            <a:off x="11661210" y="3545517"/>
            <a:ext cx="8571881" cy="4885972"/>
          </a:xfrm>
          <a:custGeom>
            <a:avLst/>
            <a:gdLst/>
            <a:ahLst/>
            <a:cxnLst/>
            <a:rect r="r" b="b" t="t" l="l"/>
            <a:pathLst>
              <a:path h="4885972" w="8571881">
                <a:moveTo>
                  <a:pt x="0" y="0"/>
                </a:moveTo>
                <a:lnTo>
                  <a:pt x="8571881" y="0"/>
                </a:lnTo>
                <a:lnTo>
                  <a:pt x="8571881" y="4885972"/>
                </a:lnTo>
                <a:lnTo>
                  <a:pt x="0" y="4885972"/>
                </a:lnTo>
                <a:lnTo>
                  <a:pt x="0" y="0"/>
                </a:lnTo>
                <a:close/>
              </a:path>
            </a:pathLst>
          </a:custGeom>
          <a:blipFill>
            <a:blip r:embed="rId3"/>
            <a:stretch>
              <a:fillRect l="0" t="0" r="0" b="0"/>
            </a:stretch>
          </a:blipFill>
        </p:spPr>
      </p:sp>
      <p:sp>
        <p:nvSpPr>
          <p:cNvPr name="TextBox 7" id="7"/>
          <p:cNvSpPr txBox="true"/>
          <p:nvPr/>
        </p:nvSpPr>
        <p:spPr>
          <a:xfrm rot="0">
            <a:off x="2273287" y="2938463"/>
            <a:ext cx="5618971" cy="4438650"/>
          </a:xfrm>
          <a:prstGeom prst="rect">
            <a:avLst/>
          </a:prstGeom>
        </p:spPr>
        <p:txBody>
          <a:bodyPr anchor="t" rtlCol="false" tIns="0" lIns="0" bIns="0" rIns="0">
            <a:spAutoFit/>
          </a:bodyPr>
          <a:lstStyle/>
          <a:p>
            <a:pPr algn="l">
              <a:lnSpc>
                <a:spcPts val="11699"/>
              </a:lnSpc>
            </a:pPr>
            <a:r>
              <a:rPr lang="en-US" sz="9999" spc="389">
                <a:solidFill>
                  <a:srgbClr val="3B3B3B"/>
                </a:solidFill>
                <a:latin typeface="Calistoga"/>
                <a:ea typeface="Calistoga"/>
                <a:cs typeface="Calistoga"/>
                <a:sym typeface="Calistoga"/>
              </a:rPr>
              <a:t>Revision of Core Skills</a:t>
            </a:r>
          </a:p>
        </p:txBody>
      </p:sp>
      <p:sp>
        <p:nvSpPr>
          <p:cNvPr name="Freeform 8" id="8"/>
          <p:cNvSpPr/>
          <p:nvPr/>
        </p:nvSpPr>
        <p:spPr>
          <a:xfrm flipH="false" flipV="false" rot="-2306605">
            <a:off x="9958736" y="2013280"/>
            <a:ext cx="5583567" cy="5668596"/>
          </a:xfrm>
          <a:custGeom>
            <a:avLst/>
            <a:gdLst/>
            <a:ahLst/>
            <a:cxnLst/>
            <a:rect r="r" b="b" t="t" l="l"/>
            <a:pathLst>
              <a:path h="5668596" w="5583567">
                <a:moveTo>
                  <a:pt x="0" y="0"/>
                </a:moveTo>
                <a:lnTo>
                  <a:pt x="5583568" y="0"/>
                </a:lnTo>
                <a:lnTo>
                  <a:pt x="5583568" y="5668596"/>
                </a:lnTo>
                <a:lnTo>
                  <a:pt x="0" y="5668596"/>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447273" y="1469214"/>
            <a:ext cx="8523674" cy="1369845"/>
            <a:chOff x="0" y="0"/>
            <a:chExt cx="2244918" cy="360782"/>
          </a:xfrm>
        </p:grpSpPr>
        <p:sp>
          <p:nvSpPr>
            <p:cNvPr name="Freeform 7" id="7"/>
            <p:cNvSpPr/>
            <p:nvPr/>
          </p:nvSpPr>
          <p:spPr>
            <a:xfrm flipH="false" flipV="false" rot="0">
              <a:off x="0" y="0"/>
              <a:ext cx="2244918" cy="360782"/>
            </a:xfrm>
            <a:custGeom>
              <a:avLst/>
              <a:gdLst/>
              <a:ahLst/>
              <a:cxnLst/>
              <a:rect r="r" b="b" t="t" l="l"/>
              <a:pathLst>
                <a:path h="360782" w="2244918">
                  <a:moveTo>
                    <a:pt x="13624" y="0"/>
                  </a:moveTo>
                  <a:lnTo>
                    <a:pt x="2231294" y="0"/>
                  </a:lnTo>
                  <a:cubicBezTo>
                    <a:pt x="2238818" y="0"/>
                    <a:pt x="2244918" y="6100"/>
                    <a:pt x="2244918" y="13624"/>
                  </a:cubicBezTo>
                  <a:lnTo>
                    <a:pt x="2244918" y="347158"/>
                  </a:lnTo>
                  <a:cubicBezTo>
                    <a:pt x="2244918" y="354682"/>
                    <a:pt x="2238818" y="360782"/>
                    <a:pt x="2231294" y="360782"/>
                  </a:cubicBezTo>
                  <a:lnTo>
                    <a:pt x="13624" y="360782"/>
                  </a:lnTo>
                  <a:cubicBezTo>
                    <a:pt x="6100" y="360782"/>
                    <a:pt x="0" y="354682"/>
                    <a:pt x="0" y="347158"/>
                  </a:cubicBezTo>
                  <a:lnTo>
                    <a:pt x="0" y="13624"/>
                  </a:lnTo>
                  <a:cubicBezTo>
                    <a:pt x="0" y="6100"/>
                    <a:pt x="6100" y="0"/>
                    <a:pt x="13624" y="0"/>
                  </a:cubicBezTo>
                  <a:close/>
                </a:path>
              </a:pathLst>
            </a:custGeom>
            <a:ln w="38100" cap="sq">
              <a:solidFill>
                <a:srgbClr val="000000"/>
              </a:solidFill>
              <a:prstDash val="solid"/>
              <a:miter/>
            </a:ln>
          </p:spPr>
        </p:sp>
        <p:sp>
          <p:nvSpPr>
            <p:cNvPr name="TextBox 8" id="8"/>
            <p:cNvSpPr txBox="true"/>
            <p:nvPr/>
          </p:nvSpPr>
          <p:spPr>
            <a:xfrm>
              <a:off x="0" y="-28575"/>
              <a:ext cx="2244918" cy="389357"/>
            </a:xfrm>
            <a:prstGeom prst="rect">
              <a:avLst/>
            </a:prstGeom>
          </p:spPr>
          <p:txBody>
            <a:bodyPr anchor="ctr" rtlCol="false" tIns="50800" lIns="50800" bIns="50800" rIns="50800"/>
            <a:lstStyle/>
            <a:p>
              <a:pPr algn="r">
                <a:lnSpc>
                  <a:spcPts val="1960"/>
                </a:lnSpc>
              </a:pPr>
            </a:p>
          </p:txBody>
        </p:sp>
      </p:grpSp>
      <p:sp>
        <p:nvSpPr>
          <p:cNvPr name="Freeform 9" id="9"/>
          <p:cNvSpPr/>
          <p:nvPr/>
        </p:nvSpPr>
        <p:spPr>
          <a:xfrm flipH="false" flipV="false" rot="0">
            <a:off x="10816457" y="1469214"/>
            <a:ext cx="6024270" cy="7348571"/>
          </a:xfrm>
          <a:custGeom>
            <a:avLst/>
            <a:gdLst/>
            <a:ahLst/>
            <a:cxnLst/>
            <a:rect r="r" b="b" t="t" l="l"/>
            <a:pathLst>
              <a:path h="7348571" w="6024270">
                <a:moveTo>
                  <a:pt x="0" y="0"/>
                </a:moveTo>
                <a:lnTo>
                  <a:pt x="6024270" y="0"/>
                </a:lnTo>
                <a:lnTo>
                  <a:pt x="6024270" y="7348572"/>
                </a:lnTo>
                <a:lnTo>
                  <a:pt x="0" y="7348572"/>
                </a:lnTo>
                <a:lnTo>
                  <a:pt x="0" y="0"/>
                </a:lnTo>
                <a:close/>
              </a:path>
            </a:pathLst>
          </a:custGeom>
          <a:blipFill>
            <a:blip r:embed="rId3"/>
            <a:stretch>
              <a:fillRect l="-23517" t="0" r="-121673" b="0"/>
            </a:stretch>
          </a:blipFill>
        </p:spPr>
      </p:sp>
      <p:sp>
        <p:nvSpPr>
          <p:cNvPr name="TextBox 10" id="10"/>
          <p:cNvSpPr txBox="true"/>
          <p:nvPr/>
        </p:nvSpPr>
        <p:spPr>
          <a:xfrm rot="0">
            <a:off x="1756385" y="1709321"/>
            <a:ext cx="7905450" cy="899158"/>
          </a:xfrm>
          <a:prstGeom prst="rect">
            <a:avLst/>
          </a:prstGeom>
        </p:spPr>
        <p:txBody>
          <a:bodyPr anchor="t" rtlCol="false" tIns="0" lIns="0" bIns="0" rIns="0">
            <a:spAutoFit/>
          </a:bodyPr>
          <a:lstStyle/>
          <a:p>
            <a:pPr algn="ctr">
              <a:lnSpc>
                <a:spcPts val="7019"/>
              </a:lnSpc>
            </a:pPr>
            <a:r>
              <a:rPr lang="en-US" sz="5999" spc="365">
                <a:solidFill>
                  <a:srgbClr val="3B3B3B"/>
                </a:solidFill>
                <a:latin typeface="Calistoga"/>
                <a:ea typeface="Calistoga"/>
                <a:cs typeface="Calistoga"/>
                <a:sym typeface="Calistoga"/>
              </a:rPr>
              <a:t>Revision</a:t>
            </a:r>
          </a:p>
        </p:txBody>
      </p:sp>
      <p:sp>
        <p:nvSpPr>
          <p:cNvPr name="TextBox 11" id="11"/>
          <p:cNvSpPr txBox="true"/>
          <p:nvPr/>
        </p:nvSpPr>
        <p:spPr>
          <a:xfrm rot="0">
            <a:off x="1447273" y="3262109"/>
            <a:ext cx="8523674" cy="986155"/>
          </a:xfrm>
          <a:prstGeom prst="rect">
            <a:avLst/>
          </a:prstGeom>
        </p:spPr>
        <p:txBody>
          <a:bodyPr anchor="t" rtlCol="false" tIns="0" lIns="0" bIns="0" rIns="0">
            <a:spAutoFit/>
          </a:bodyPr>
          <a:lstStyle/>
          <a:p>
            <a:pPr algn="l">
              <a:lnSpc>
                <a:spcPts val="3920"/>
              </a:lnSpc>
            </a:pPr>
            <a:r>
              <a:rPr lang="en-US" sz="2800">
                <a:solidFill>
                  <a:srgbClr val="000000"/>
                </a:solidFill>
                <a:latin typeface="Lato"/>
                <a:ea typeface="Lato"/>
                <a:cs typeface="Lato"/>
                <a:sym typeface="Lato"/>
              </a:rPr>
              <a:t>The following writing prompts will work to improve your creative writing skills in four key areas:</a:t>
            </a:r>
          </a:p>
        </p:txBody>
      </p:sp>
      <p:sp>
        <p:nvSpPr>
          <p:cNvPr name="TextBox 12" id="12"/>
          <p:cNvSpPr txBox="true"/>
          <p:nvPr/>
        </p:nvSpPr>
        <p:spPr>
          <a:xfrm rot="0">
            <a:off x="1447273" y="4671313"/>
            <a:ext cx="8523674" cy="4908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Indirect Characterisation</a:t>
            </a:r>
          </a:p>
        </p:txBody>
      </p:sp>
      <p:sp>
        <p:nvSpPr>
          <p:cNvPr name="TextBox 13" id="13"/>
          <p:cNvSpPr txBox="true"/>
          <p:nvPr/>
        </p:nvSpPr>
        <p:spPr>
          <a:xfrm rot="0">
            <a:off x="1447273" y="5585218"/>
            <a:ext cx="8523674" cy="4908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Voice and Perspective</a:t>
            </a:r>
          </a:p>
        </p:txBody>
      </p:sp>
      <p:sp>
        <p:nvSpPr>
          <p:cNvPr name="TextBox 14" id="14"/>
          <p:cNvSpPr txBox="true"/>
          <p:nvPr/>
        </p:nvSpPr>
        <p:spPr>
          <a:xfrm rot="0">
            <a:off x="1447273" y="6499122"/>
            <a:ext cx="8523674" cy="4908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Setting, Mood and Imagery</a:t>
            </a:r>
          </a:p>
        </p:txBody>
      </p:sp>
      <p:sp>
        <p:nvSpPr>
          <p:cNvPr name="TextBox 15" id="15"/>
          <p:cNvSpPr txBox="true"/>
          <p:nvPr/>
        </p:nvSpPr>
        <p:spPr>
          <a:xfrm rot="0">
            <a:off x="1447273" y="7413026"/>
            <a:ext cx="8523674" cy="490855"/>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000000"/>
                </a:solidFill>
                <a:latin typeface="Lato"/>
                <a:ea typeface="Lato"/>
                <a:cs typeface="Lato"/>
                <a:sym typeface="Lato"/>
              </a:rPr>
              <a:t>Structure and Sequencing</a:t>
            </a:r>
          </a:p>
        </p:txBody>
      </p:sp>
      <p:sp>
        <p:nvSpPr>
          <p:cNvPr name="TextBox 16" id="16"/>
          <p:cNvSpPr txBox="true"/>
          <p:nvPr/>
        </p:nvSpPr>
        <p:spPr>
          <a:xfrm rot="0">
            <a:off x="1447273" y="8326931"/>
            <a:ext cx="8523674" cy="490855"/>
          </a:xfrm>
          <a:prstGeom prst="rect">
            <a:avLst/>
          </a:prstGeom>
        </p:spPr>
        <p:txBody>
          <a:bodyPr anchor="t" rtlCol="false" tIns="0" lIns="0" bIns="0" rIns="0">
            <a:spAutoFit/>
          </a:bodyPr>
          <a:lstStyle/>
          <a:p>
            <a:pPr algn="l">
              <a:lnSpc>
                <a:spcPts val="3920"/>
              </a:lnSpc>
            </a:pPr>
            <a:r>
              <a:rPr lang="en-US" sz="2800">
                <a:solidFill>
                  <a:srgbClr val="000000"/>
                </a:solidFill>
                <a:latin typeface="Lato"/>
                <a:ea typeface="Lato"/>
                <a:cs typeface="Lato"/>
                <a:sym typeface="Lato"/>
              </a:rPr>
              <a:t>Let’s revise these narrative elements before we begin.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309949" y="1334449"/>
            <a:ext cx="6831883" cy="2297798"/>
            <a:chOff x="0" y="0"/>
            <a:chExt cx="1799344" cy="605181"/>
          </a:xfrm>
        </p:grpSpPr>
        <p:sp>
          <p:nvSpPr>
            <p:cNvPr name="Freeform 7" id="7"/>
            <p:cNvSpPr/>
            <p:nvPr/>
          </p:nvSpPr>
          <p:spPr>
            <a:xfrm flipH="false" flipV="false" rot="0">
              <a:off x="0" y="0"/>
              <a:ext cx="1799344" cy="605181"/>
            </a:xfrm>
            <a:custGeom>
              <a:avLst/>
              <a:gdLst/>
              <a:ahLst/>
              <a:cxnLst/>
              <a:rect r="r" b="b" t="t" l="l"/>
              <a:pathLst>
                <a:path h="605181" w="1799344">
                  <a:moveTo>
                    <a:pt x="16998" y="0"/>
                  </a:moveTo>
                  <a:lnTo>
                    <a:pt x="1782346" y="0"/>
                  </a:lnTo>
                  <a:cubicBezTo>
                    <a:pt x="1791733" y="0"/>
                    <a:pt x="1799344" y="7610"/>
                    <a:pt x="1799344" y="16998"/>
                  </a:cubicBezTo>
                  <a:lnTo>
                    <a:pt x="1799344" y="588183"/>
                  </a:lnTo>
                  <a:cubicBezTo>
                    <a:pt x="1799344" y="597571"/>
                    <a:pt x="1791733" y="605181"/>
                    <a:pt x="1782346" y="605181"/>
                  </a:cubicBezTo>
                  <a:lnTo>
                    <a:pt x="16998" y="605181"/>
                  </a:lnTo>
                  <a:cubicBezTo>
                    <a:pt x="7610" y="605181"/>
                    <a:pt x="0" y="597571"/>
                    <a:pt x="0" y="588183"/>
                  </a:cubicBezTo>
                  <a:lnTo>
                    <a:pt x="0" y="16998"/>
                  </a:lnTo>
                  <a:cubicBezTo>
                    <a:pt x="0" y="7610"/>
                    <a:pt x="7610" y="0"/>
                    <a:pt x="16998" y="0"/>
                  </a:cubicBezTo>
                  <a:close/>
                </a:path>
              </a:pathLst>
            </a:custGeom>
            <a:ln w="38100" cap="sq">
              <a:solidFill>
                <a:srgbClr val="000000"/>
              </a:solidFill>
              <a:prstDash val="solid"/>
              <a:miter/>
            </a:ln>
          </p:spPr>
        </p:sp>
        <p:sp>
          <p:nvSpPr>
            <p:cNvPr name="TextBox 8" id="8"/>
            <p:cNvSpPr txBox="true"/>
            <p:nvPr/>
          </p:nvSpPr>
          <p:spPr>
            <a:xfrm>
              <a:off x="0" y="-28575"/>
              <a:ext cx="1799344" cy="633756"/>
            </a:xfrm>
            <a:prstGeom prst="rect">
              <a:avLst/>
            </a:prstGeom>
          </p:spPr>
          <p:txBody>
            <a:bodyPr anchor="ctr" rtlCol="false" tIns="50800" lIns="50800" bIns="50800" rIns="50800"/>
            <a:lstStyle/>
            <a:p>
              <a:pPr algn="just">
                <a:lnSpc>
                  <a:spcPts val="1960"/>
                </a:lnSpc>
              </a:pPr>
            </a:p>
          </p:txBody>
        </p:sp>
      </p:grpSp>
      <p:sp>
        <p:nvSpPr>
          <p:cNvPr name="TextBox 9" id="9"/>
          <p:cNvSpPr txBox="true"/>
          <p:nvPr/>
        </p:nvSpPr>
        <p:spPr>
          <a:xfrm rot="0">
            <a:off x="1309949" y="4114896"/>
            <a:ext cx="6831883" cy="2472055"/>
          </a:xfrm>
          <a:prstGeom prst="rect">
            <a:avLst/>
          </a:prstGeom>
        </p:spPr>
        <p:txBody>
          <a:bodyPr anchor="t" rtlCol="false" tIns="0" lIns="0" bIns="0" rIns="0">
            <a:spAutoFit/>
          </a:bodyPr>
          <a:lstStyle/>
          <a:p>
            <a:pPr algn="l">
              <a:lnSpc>
                <a:spcPts val="3920"/>
              </a:lnSpc>
            </a:pPr>
            <a:r>
              <a:rPr lang="en-US" sz="2800">
                <a:solidFill>
                  <a:srgbClr val="000000"/>
                </a:solidFill>
                <a:latin typeface="Lato"/>
                <a:ea typeface="Lato"/>
                <a:cs typeface="Lato"/>
                <a:sym typeface="Lato"/>
              </a:rPr>
              <a:t>Indirect characterisation is a method used by writers to reveal a character's personality, traits, and motivations without directly or explicitly ‘telling’ the reader. It is typically achieved through:</a:t>
            </a:r>
          </a:p>
        </p:txBody>
      </p:sp>
      <p:sp>
        <p:nvSpPr>
          <p:cNvPr name="TextBox 10" id="10"/>
          <p:cNvSpPr txBox="true"/>
          <p:nvPr/>
        </p:nvSpPr>
        <p:spPr>
          <a:xfrm rot="0">
            <a:off x="9144000" y="6520276"/>
            <a:ext cx="7994028" cy="986155"/>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00000"/>
                </a:solidFill>
                <a:latin typeface="Lato Heavy"/>
                <a:ea typeface="Lato Heavy"/>
                <a:cs typeface="Lato Heavy"/>
                <a:sym typeface="Lato Heavy"/>
              </a:rPr>
              <a:t>Effect on others: </a:t>
            </a:r>
            <a:r>
              <a:rPr lang="en-US" sz="2800">
                <a:solidFill>
                  <a:srgbClr val="000000"/>
                </a:solidFill>
                <a:latin typeface="Lato"/>
                <a:ea typeface="Lato"/>
                <a:cs typeface="Lato"/>
                <a:sym typeface="Lato"/>
              </a:rPr>
              <a:t>How other characters react to and interact with the character in question.</a:t>
            </a:r>
          </a:p>
        </p:txBody>
      </p:sp>
      <p:sp>
        <p:nvSpPr>
          <p:cNvPr name="TextBox 11" id="11"/>
          <p:cNvSpPr txBox="true"/>
          <p:nvPr/>
        </p:nvSpPr>
        <p:spPr>
          <a:xfrm rot="0">
            <a:off x="9144000" y="4921282"/>
            <a:ext cx="7994028" cy="1481455"/>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00000"/>
                </a:solidFill>
                <a:latin typeface="Lato Heavy"/>
                <a:ea typeface="Lato Heavy"/>
                <a:cs typeface="Lato Heavy"/>
                <a:sym typeface="Lato Heavy"/>
              </a:rPr>
              <a:t>Thoughts</a:t>
            </a:r>
            <a:r>
              <a:rPr lang="en-US" sz="2800">
                <a:solidFill>
                  <a:srgbClr val="000000"/>
                </a:solidFill>
                <a:latin typeface="Lato"/>
                <a:ea typeface="Lato"/>
                <a:cs typeface="Lato"/>
                <a:sym typeface="Lato"/>
              </a:rPr>
              <a:t>: The internal thoughts and feelings of the character, which provide insight into their motivations and personality.</a:t>
            </a:r>
          </a:p>
        </p:txBody>
      </p:sp>
      <p:sp>
        <p:nvSpPr>
          <p:cNvPr name="TextBox 12" id="12"/>
          <p:cNvSpPr txBox="true"/>
          <p:nvPr/>
        </p:nvSpPr>
        <p:spPr>
          <a:xfrm rot="0">
            <a:off x="9144000" y="7623971"/>
            <a:ext cx="7994028" cy="1481455"/>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00000"/>
                </a:solidFill>
                <a:latin typeface="Lato Heavy"/>
                <a:ea typeface="Lato Heavy"/>
                <a:cs typeface="Lato Heavy"/>
                <a:sym typeface="Lato Heavy"/>
              </a:rPr>
              <a:t>Other e.g objects/setting:</a:t>
            </a:r>
            <a:r>
              <a:rPr lang="en-US" sz="2800">
                <a:solidFill>
                  <a:srgbClr val="000000"/>
                </a:solidFill>
                <a:latin typeface="Lato"/>
                <a:ea typeface="Lato"/>
                <a:cs typeface="Lato"/>
                <a:sym typeface="Lato"/>
              </a:rPr>
              <a:t> Elements can be used symbolically to present ideas about character.</a:t>
            </a:r>
          </a:p>
        </p:txBody>
      </p:sp>
      <p:sp>
        <p:nvSpPr>
          <p:cNvPr name="Freeform 13" id="13"/>
          <p:cNvSpPr/>
          <p:nvPr/>
        </p:nvSpPr>
        <p:spPr>
          <a:xfrm flipH="false" flipV="false" rot="4581618">
            <a:off x="4858060" y="7993523"/>
            <a:ext cx="8571881" cy="4885972"/>
          </a:xfrm>
          <a:custGeom>
            <a:avLst/>
            <a:gdLst/>
            <a:ahLst/>
            <a:cxnLst/>
            <a:rect r="r" b="b" t="t" l="l"/>
            <a:pathLst>
              <a:path h="4885972" w="8571881">
                <a:moveTo>
                  <a:pt x="0" y="0"/>
                </a:moveTo>
                <a:lnTo>
                  <a:pt x="8571880" y="0"/>
                </a:lnTo>
                <a:lnTo>
                  <a:pt x="8571880" y="4885971"/>
                </a:lnTo>
                <a:lnTo>
                  <a:pt x="0" y="4885971"/>
                </a:lnTo>
                <a:lnTo>
                  <a:pt x="0" y="0"/>
                </a:lnTo>
                <a:close/>
              </a:path>
            </a:pathLst>
          </a:custGeom>
          <a:blipFill>
            <a:blip r:embed="rId3"/>
            <a:stretch>
              <a:fillRect l="0" t="0" r="0" b="0"/>
            </a:stretch>
          </a:blipFill>
        </p:spPr>
      </p:sp>
      <p:sp>
        <p:nvSpPr>
          <p:cNvPr name="Freeform 14" id="14"/>
          <p:cNvSpPr/>
          <p:nvPr/>
        </p:nvSpPr>
        <p:spPr>
          <a:xfrm flipH="false" flipV="false" rot="-7611629">
            <a:off x="-1412871" y="5534208"/>
            <a:ext cx="7924250" cy="4695118"/>
          </a:xfrm>
          <a:custGeom>
            <a:avLst/>
            <a:gdLst/>
            <a:ahLst/>
            <a:cxnLst/>
            <a:rect r="r" b="b" t="t" l="l"/>
            <a:pathLst>
              <a:path h="4695118" w="7924250">
                <a:moveTo>
                  <a:pt x="0" y="0"/>
                </a:moveTo>
                <a:lnTo>
                  <a:pt x="7924249" y="0"/>
                </a:lnTo>
                <a:lnTo>
                  <a:pt x="7924249" y="4695118"/>
                </a:lnTo>
                <a:lnTo>
                  <a:pt x="0" y="4695118"/>
                </a:lnTo>
                <a:lnTo>
                  <a:pt x="0" y="0"/>
                </a:lnTo>
                <a:close/>
              </a:path>
            </a:pathLst>
          </a:custGeom>
          <a:blipFill>
            <a:blip r:embed="rId4"/>
            <a:stretch>
              <a:fillRect l="0" t="0" r="0" b="0"/>
            </a:stretch>
          </a:blipFill>
        </p:spPr>
      </p:sp>
      <p:sp>
        <p:nvSpPr>
          <p:cNvPr name="TextBox 15" id="15"/>
          <p:cNvSpPr txBox="true"/>
          <p:nvPr/>
        </p:nvSpPr>
        <p:spPr>
          <a:xfrm rot="0">
            <a:off x="1658887" y="1672772"/>
            <a:ext cx="6134007" cy="1630678"/>
          </a:xfrm>
          <a:prstGeom prst="rect">
            <a:avLst/>
          </a:prstGeom>
        </p:spPr>
        <p:txBody>
          <a:bodyPr anchor="t" rtlCol="false" tIns="0" lIns="0" bIns="0" rIns="0">
            <a:spAutoFit/>
          </a:bodyPr>
          <a:lstStyle/>
          <a:p>
            <a:pPr algn="l">
              <a:lnSpc>
                <a:spcPts val="6434"/>
              </a:lnSpc>
            </a:pPr>
            <a:r>
              <a:rPr lang="en-US" sz="5499" spc="335">
                <a:solidFill>
                  <a:srgbClr val="3B3B3B"/>
                </a:solidFill>
                <a:latin typeface="Calistoga"/>
                <a:ea typeface="Calistoga"/>
                <a:cs typeface="Calistoga"/>
                <a:sym typeface="Calistoga"/>
              </a:rPr>
              <a:t>Indirect Characterisation</a:t>
            </a:r>
          </a:p>
        </p:txBody>
      </p:sp>
      <p:sp>
        <p:nvSpPr>
          <p:cNvPr name="TextBox 16" id="16"/>
          <p:cNvSpPr txBox="true"/>
          <p:nvPr/>
        </p:nvSpPr>
        <p:spPr>
          <a:xfrm rot="0">
            <a:off x="9144000" y="1114900"/>
            <a:ext cx="7994028" cy="1481455"/>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00000"/>
                </a:solidFill>
                <a:latin typeface="Lato Heavy"/>
                <a:ea typeface="Lato Heavy"/>
                <a:cs typeface="Lato Heavy"/>
                <a:sym typeface="Lato Heavy"/>
              </a:rPr>
              <a:t>Appearance</a:t>
            </a:r>
            <a:r>
              <a:rPr lang="en-US" b="true" sz="2800">
                <a:solidFill>
                  <a:srgbClr val="000000"/>
                </a:solidFill>
                <a:latin typeface="Lato Bold"/>
                <a:ea typeface="Lato Bold"/>
                <a:cs typeface="Lato Bold"/>
                <a:sym typeface="Lato Bold"/>
              </a:rPr>
              <a:t>: </a:t>
            </a:r>
            <a:r>
              <a:rPr lang="en-US" sz="2800">
                <a:solidFill>
                  <a:srgbClr val="000000"/>
                </a:solidFill>
                <a:latin typeface="Lato"/>
                <a:ea typeface="Lato"/>
                <a:cs typeface="Lato"/>
                <a:sym typeface="Lato"/>
              </a:rPr>
              <a:t>The physical description of the character, including their looks, clothing, and overall presentation.</a:t>
            </a:r>
          </a:p>
        </p:txBody>
      </p:sp>
      <p:sp>
        <p:nvSpPr>
          <p:cNvPr name="TextBox 17" id="17"/>
          <p:cNvSpPr txBox="true"/>
          <p:nvPr/>
        </p:nvSpPr>
        <p:spPr>
          <a:xfrm rot="0">
            <a:off x="9144000" y="2713894"/>
            <a:ext cx="7994028" cy="986155"/>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00000"/>
                </a:solidFill>
                <a:latin typeface="Lato Heavy"/>
                <a:ea typeface="Lato Heavy"/>
                <a:cs typeface="Lato Heavy"/>
                <a:sym typeface="Lato Heavy"/>
              </a:rPr>
              <a:t>Actions</a:t>
            </a:r>
            <a:r>
              <a:rPr lang="en-US" sz="2800">
                <a:solidFill>
                  <a:srgbClr val="000000"/>
                </a:solidFill>
                <a:latin typeface="Lato"/>
                <a:ea typeface="Lato"/>
                <a:cs typeface="Lato"/>
                <a:sym typeface="Lato"/>
              </a:rPr>
              <a:t>: What the character does and how they behave in different situations.</a:t>
            </a:r>
          </a:p>
        </p:txBody>
      </p:sp>
      <p:sp>
        <p:nvSpPr>
          <p:cNvPr name="TextBox 18" id="18"/>
          <p:cNvSpPr txBox="true"/>
          <p:nvPr/>
        </p:nvSpPr>
        <p:spPr>
          <a:xfrm rot="0">
            <a:off x="9144000" y="3817588"/>
            <a:ext cx="7994028" cy="986155"/>
          </a:xfrm>
          <a:prstGeom prst="rect">
            <a:avLst/>
          </a:prstGeom>
        </p:spPr>
        <p:txBody>
          <a:bodyPr anchor="t" rtlCol="false" tIns="0" lIns="0" bIns="0" rIns="0">
            <a:spAutoFit/>
          </a:bodyPr>
          <a:lstStyle/>
          <a:p>
            <a:pPr algn="l" marL="604521" indent="-302261" lvl="1">
              <a:lnSpc>
                <a:spcPts val="3920"/>
              </a:lnSpc>
              <a:buFont typeface="Arial"/>
              <a:buChar char="•"/>
            </a:pPr>
            <a:r>
              <a:rPr lang="en-US" b="true" sz="2800">
                <a:solidFill>
                  <a:srgbClr val="000000"/>
                </a:solidFill>
                <a:latin typeface="Lato Heavy"/>
                <a:ea typeface="Lato Heavy"/>
                <a:cs typeface="Lato Heavy"/>
                <a:sym typeface="Lato Heavy"/>
              </a:rPr>
              <a:t>Speech</a:t>
            </a:r>
            <a:r>
              <a:rPr lang="en-US" sz="2800">
                <a:solidFill>
                  <a:srgbClr val="000000"/>
                </a:solidFill>
                <a:latin typeface="Lato"/>
                <a:ea typeface="Lato"/>
                <a:cs typeface="Lato"/>
                <a:sym typeface="Lato"/>
              </a:rPr>
              <a:t>: What the character says, how they speak, and their tone and choice of words.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3688211" y="1200927"/>
            <a:ext cx="10962020" cy="1369845"/>
            <a:chOff x="0" y="0"/>
            <a:chExt cx="2887116" cy="360782"/>
          </a:xfrm>
        </p:grpSpPr>
        <p:sp>
          <p:nvSpPr>
            <p:cNvPr name="Freeform 7" id="7"/>
            <p:cNvSpPr/>
            <p:nvPr/>
          </p:nvSpPr>
          <p:spPr>
            <a:xfrm flipH="false" flipV="false" rot="0">
              <a:off x="0" y="0"/>
              <a:ext cx="2887116" cy="360782"/>
            </a:xfrm>
            <a:custGeom>
              <a:avLst/>
              <a:gdLst/>
              <a:ahLst/>
              <a:cxnLst/>
              <a:rect r="r" b="b" t="t" l="l"/>
              <a:pathLst>
                <a:path h="360782" w="2887116">
                  <a:moveTo>
                    <a:pt x="10594" y="0"/>
                  </a:moveTo>
                  <a:lnTo>
                    <a:pt x="2876523" y="0"/>
                  </a:lnTo>
                  <a:cubicBezTo>
                    <a:pt x="2879332" y="0"/>
                    <a:pt x="2882027" y="1116"/>
                    <a:pt x="2884013" y="3103"/>
                  </a:cubicBezTo>
                  <a:cubicBezTo>
                    <a:pt x="2886000" y="5090"/>
                    <a:pt x="2887116" y="7784"/>
                    <a:pt x="2887116" y="10594"/>
                  </a:cubicBezTo>
                  <a:lnTo>
                    <a:pt x="2887116" y="350189"/>
                  </a:lnTo>
                  <a:cubicBezTo>
                    <a:pt x="2887116" y="352998"/>
                    <a:pt x="2886000" y="355693"/>
                    <a:pt x="2884013" y="357679"/>
                  </a:cubicBezTo>
                  <a:cubicBezTo>
                    <a:pt x="2882027" y="359666"/>
                    <a:pt x="2879332" y="360782"/>
                    <a:pt x="2876523" y="360782"/>
                  </a:cubicBezTo>
                  <a:lnTo>
                    <a:pt x="10594" y="360782"/>
                  </a:lnTo>
                  <a:cubicBezTo>
                    <a:pt x="7784" y="360782"/>
                    <a:pt x="5090" y="359666"/>
                    <a:pt x="3103" y="357679"/>
                  </a:cubicBezTo>
                  <a:cubicBezTo>
                    <a:pt x="1116" y="355693"/>
                    <a:pt x="0" y="352998"/>
                    <a:pt x="0" y="350189"/>
                  </a:cubicBezTo>
                  <a:lnTo>
                    <a:pt x="0" y="10594"/>
                  </a:lnTo>
                  <a:cubicBezTo>
                    <a:pt x="0" y="7784"/>
                    <a:pt x="1116" y="5090"/>
                    <a:pt x="3103" y="3103"/>
                  </a:cubicBezTo>
                  <a:cubicBezTo>
                    <a:pt x="5090" y="1116"/>
                    <a:pt x="7784" y="0"/>
                    <a:pt x="10594" y="0"/>
                  </a:cubicBezTo>
                  <a:close/>
                </a:path>
              </a:pathLst>
            </a:custGeom>
            <a:ln w="38100" cap="sq">
              <a:solidFill>
                <a:srgbClr val="000000"/>
              </a:solidFill>
              <a:prstDash val="solid"/>
              <a:miter/>
            </a:ln>
          </p:spPr>
        </p:sp>
        <p:sp>
          <p:nvSpPr>
            <p:cNvPr name="TextBox 8" id="8"/>
            <p:cNvSpPr txBox="true"/>
            <p:nvPr/>
          </p:nvSpPr>
          <p:spPr>
            <a:xfrm>
              <a:off x="0" y="-28575"/>
              <a:ext cx="2887116" cy="389357"/>
            </a:xfrm>
            <a:prstGeom prst="rect">
              <a:avLst/>
            </a:prstGeom>
          </p:spPr>
          <p:txBody>
            <a:bodyPr anchor="ctr" rtlCol="false" tIns="50800" lIns="50800" bIns="50800" rIns="50800"/>
            <a:lstStyle/>
            <a:p>
              <a:pPr algn="r">
                <a:lnSpc>
                  <a:spcPts val="1960"/>
                </a:lnSpc>
              </a:pPr>
            </a:p>
          </p:txBody>
        </p:sp>
      </p:grpSp>
      <p:sp>
        <p:nvSpPr>
          <p:cNvPr name="Freeform 9" id="9"/>
          <p:cNvSpPr/>
          <p:nvPr/>
        </p:nvSpPr>
        <p:spPr>
          <a:xfrm flipH="false" flipV="false" rot="0">
            <a:off x="15069637" y="6547250"/>
            <a:ext cx="3714104" cy="4087047"/>
          </a:xfrm>
          <a:custGeom>
            <a:avLst/>
            <a:gdLst/>
            <a:ahLst/>
            <a:cxnLst/>
            <a:rect r="r" b="b" t="t" l="l"/>
            <a:pathLst>
              <a:path h="4087047" w="3714104">
                <a:moveTo>
                  <a:pt x="0" y="0"/>
                </a:moveTo>
                <a:lnTo>
                  <a:pt x="3714103" y="0"/>
                </a:lnTo>
                <a:lnTo>
                  <a:pt x="3714103" y="4087047"/>
                </a:lnTo>
                <a:lnTo>
                  <a:pt x="0" y="4087047"/>
                </a:lnTo>
                <a:lnTo>
                  <a:pt x="0" y="0"/>
                </a:lnTo>
                <a:close/>
              </a:path>
            </a:pathLst>
          </a:custGeom>
          <a:blipFill>
            <a:blip r:embed="rId3"/>
            <a:stretch>
              <a:fillRect l="0" t="0" r="0" b="0"/>
            </a:stretch>
          </a:blipFill>
        </p:spPr>
      </p:sp>
      <p:sp>
        <p:nvSpPr>
          <p:cNvPr name="TextBox 10" id="10"/>
          <p:cNvSpPr txBox="true"/>
          <p:nvPr/>
        </p:nvSpPr>
        <p:spPr>
          <a:xfrm rot="0">
            <a:off x="4000472" y="1480085"/>
            <a:ext cx="10287055" cy="821053"/>
          </a:xfrm>
          <a:prstGeom prst="rect">
            <a:avLst/>
          </a:prstGeom>
        </p:spPr>
        <p:txBody>
          <a:bodyPr anchor="t" rtlCol="false" tIns="0" lIns="0" bIns="0" rIns="0">
            <a:spAutoFit/>
          </a:bodyPr>
          <a:lstStyle/>
          <a:p>
            <a:pPr algn="ctr">
              <a:lnSpc>
                <a:spcPts val="6434"/>
              </a:lnSpc>
            </a:pPr>
            <a:r>
              <a:rPr lang="en-US" sz="5499" spc="335">
                <a:solidFill>
                  <a:srgbClr val="3B3B3B"/>
                </a:solidFill>
                <a:latin typeface="Calistoga"/>
                <a:ea typeface="Calistoga"/>
                <a:cs typeface="Calistoga"/>
                <a:sym typeface="Calistoga"/>
              </a:rPr>
              <a:t>Voice and Perspective</a:t>
            </a:r>
          </a:p>
        </p:txBody>
      </p:sp>
      <p:sp>
        <p:nvSpPr>
          <p:cNvPr name="TextBox 11" id="11"/>
          <p:cNvSpPr txBox="true"/>
          <p:nvPr/>
        </p:nvSpPr>
        <p:spPr>
          <a:xfrm rot="0">
            <a:off x="9493685" y="3146919"/>
            <a:ext cx="7433004" cy="34626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Voice...</a:t>
            </a:r>
          </a:p>
          <a:p>
            <a:pPr algn="l" marL="604521" indent="-302261" lvl="1">
              <a:lnSpc>
                <a:spcPts val="3920"/>
              </a:lnSpc>
              <a:buFont typeface="Arial"/>
              <a:buChar char="•"/>
            </a:pPr>
            <a:r>
              <a:rPr lang="en-US" sz="2800">
                <a:solidFill>
                  <a:srgbClr val="000000"/>
                </a:solidFill>
                <a:latin typeface="Lato"/>
                <a:ea typeface="Lato"/>
                <a:cs typeface="Lato"/>
                <a:sym typeface="Lato"/>
              </a:rPr>
              <a:t>refers to the distinct sound, personality, style, or point of view of a piece of writing or its narrator, author or various characters. </a:t>
            </a:r>
          </a:p>
          <a:p>
            <a:pPr algn="l" marL="604521" indent="-302261" lvl="1">
              <a:lnSpc>
                <a:spcPts val="3920"/>
              </a:lnSpc>
              <a:buFont typeface="Arial"/>
              <a:buChar char="•"/>
            </a:pPr>
            <a:r>
              <a:rPr lang="en-US" sz="2800">
                <a:solidFill>
                  <a:srgbClr val="000000"/>
                </a:solidFill>
                <a:latin typeface="Lato"/>
                <a:ea typeface="Lato"/>
                <a:cs typeface="Lato"/>
                <a:sym typeface="Lato"/>
              </a:rPr>
              <a:t>can be conveyed through a combination of syntax, diction, punctuation, character development, dialogue, etc. within a text. </a:t>
            </a:r>
          </a:p>
        </p:txBody>
      </p:sp>
      <p:sp>
        <p:nvSpPr>
          <p:cNvPr name="TextBox 12" id="12"/>
          <p:cNvSpPr txBox="true"/>
          <p:nvPr/>
        </p:nvSpPr>
        <p:spPr>
          <a:xfrm rot="0">
            <a:off x="1417284" y="3146919"/>
            <a:ext cx="7433004" cy="59391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Perspective...</a:t>
            </a:r>
          </a:p>
          <a:p>
            <a:pPr algn="l" marL="604521" indent="-302261" lvl="1">
              <a:lnSpc>
                <a:spcPts val="3920"/>
              </a:lnSpc>
              <a:buFont typeface="Arial"/>
              <a:buChar char="•"/>
            </a:pPr>
            <a:r>
              <a:rPr lang="en-US" sz="2800">
                <a:solidFill>
                  <a:srgbClr val="000000"/>
                </a:solidFill>
                <a:latin typeface="Lato"/>
                <a:ea typeface="Lato"/>
                <a:cs typeface="Lato"/>
                <a:sym typeface="Lato"/>
              </a:rPr>
              <a:t>is the lens through which the readers observe the characters, events, and happenings. </a:t>
            </a:r>
          </a:p>
          <a:p>
            <a:pPr algn="l" marL="604521" indent="-302261" lvl="1">
              <a:lnSpc>
                <a:spcPts val="3920"/>
              </a:lnSpc>
              <a:buFont typeface="Arial"/>
              <a:buChar char="•"/>
            </a:pPr>
            <a:r>
              <a:rPr lang="en-US" sz="2800">
                <a:solidFill>
                  <a:srgbClr val="000000"/>
                </a:solidFill>
                <a:latin typeface="Lato"/>
                <a:ea typeface="Lato"/>
                <a:cs typeface="Lato"/>
                <a:sym typeface="Lato"/>
              </a:rPr>
              <a:t>is the angle or viewpoint from which a story is narrated. </a:t>
            </a:r>
          </a:p>
          <a:p>
            <a:pPr algn="l" marL="604521" indent="-302261" lvl="1">
              <a:lnSpc>
                <a:spcPts val="3920"/>
              </a:lnSpc>
              <a:buFont typeface="Arial"/>
              <a:buChar char="•"/>
            </a:pPr>
            <a:r>
              <a:rPr lang="en-US" sz="2800">
                <a:solidFill>
                  <a:srgbClr val="000000"/>
                </a:solidFill>
                <a:latin typeface="Lato"/>
                <a:ea typeface="Lato"/>
                <a:cs typeface="Lato"/>
                <a:sym typeface="Lato"/>
              </a:rPr>
              <a:t>is closely linked to the narrator of the story (some texts can have multiple perspectives).</a:t>
            </a:r>
          </a:p>
          <a:p>
            <a:pPr algn="l" marL="604521" indent="-302261" lvl="1">
              <a:lnSpc>
                <a:spcPts val="3920"/>
              </a:lnSpc>
              <a:buFont typeface="Arial"/>
              <a:buChar char="•"/>
            </a:pPr>
            <a:r>
              <a:rPr lang="en-US" sz="2800">
                <a:solidFill>
                  <a:srgbClr val="000000"/>
                </a:solidFill>
                <a:latin typeface="Lato"/>
                <a:ea typeface="Lato"/>
                <a:cs typeface="Lato"/>
                <a:sym typeface="Lato"/>
              </a:rPr>
              <a:t>influences how characters and events are presented in a narrative, ultimately, shaping the way that readers respond to them.</a:t>
            </a:r>
          </a:p>
        </p:txBody>
      </p:sp>
      <p:sp>
        <p:nvSpPr>
          <p:cNvPr name="Freeform 13" id="13"/>
          <p:cNvSpPr/>
          <p:nvPr/>
        </p:nvSpPr>
        <p:spPr>
          <a:xfrm flipH="false" flipV="false" rot="-9333784">
            <a:off x="10100816" y="7214777"/>
            <a:ext cx="3714104" cy="4087047"/>
          </a:xfrm>
          <a:custGeom>
            <a:avLst/>
            <a:gdLst/>
            <a:ahLst/>
            <a:cxnLst/>
            <a:rect r="r" b="b" t="t" l="l"/>
            <a:pathLst>
              <a:path h="4087047" w="3714104">
                <a:moveTo>
                  <a:pt x="0" y="0"/>
                </a:moveTo>
                <a:lnTo>
                  <a:pt x="3714103" y="0"/>
                </a:lnTo>
                <a:lnTo>
                  <a:pt x="3714103" y="4087046"/>
                </a:lnTo>
                <a:lnTo>
                  <a:pt x="0" y="4087046"/>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327652" y="1282383"/>
            <a:ext cx="10256108" cy="1369845"/>
            <a:chOff x="0" y="0"/>
            <a:chExt cx="2701197" cy="360782"/>
          </a:xfrm>
        </p:grpSpPr>
        <p:sp>
          <p:nvSpPr>
            <p:cNvPr name="Freeform 7" id="7"/>
            <p:cNvSpPr/>
            <p:nvPr/>
          </p:nvSpPr>
          <p:spPr>
            <a:xfrm flipH="false" flipV="false" rot="0">
              <a:off x="0" y="0"/>
              <a:ext cx="2701197" cy="360782"/>
            </a:xfrm>
            <a:custGeom>
              <a:avLst/>
              <a:gdLst/>
              <a:ahLst/>
              <a:cxnLst/>
              <a:rect r="r" b="b" t="t" l="l"/>
              <a:pathLst>
                <a:path h="360782" w="2701197">
                  <a:moveTo>
                    <a:pt x="11323" y="0"/>
                  </a:moveTo>
                  <a:lnTo>
                    <a:pt x="2689874" y="0"/>
                  </a:lnTo>
                  <a:cubicBezTo>
                    <a:pt x="2692877" y="0"/>
                    <a:pt x="2695758" y="1193"/>
                    <a:pt x="2697881" y="3316"/>
                  </a:cubicBezTo>
                  <a:cubicBezTo>
                    <a:pt x="2700004" y="5440"/>
                    <a:pt x="2701197" y="8320"/>
                    <a:pt x="2701197" y="11323"/>
                  </a:cubicBezTo>
                  <a:lnTo>
                    <a:pt x="2701197" y="349459"/>
                  </a:lnTo>
                  <a:cubicBezTo>
                    <a:pt x="2701197" y="352462"/>
                    <a:pt x="2700004" y="355342"/>
                    <a:pt x="2697881" y="357466"/>
                  </a:cubicBezTo>
                  <a:cubicBezTo>
                    <a:pt x="2695758" y="359589"/>
                    <a:pt x="2692877" y="360782"/>
                    <a:pt x="2689874" y="360782"/>
                  </a:cubicBezTo>
                  <a:lnTo>
                    <a:pt x="11323" y="360782"/>
                  </a:lnTo>
                  <a:cubicBezTo>
                    <a:pt x="8320" y="360782"/>
                    <a:pt x="5440" y="359589"/>
                    <a:pt x="3316" y="357466"/>
                  </a:cubicBezTo>
                  <a:cubicBezTo>
                    <a:pt x="1193" y="355342"/>
                    <a:pt x="0" y="352462"/>
                    <a:pt x="0" y="349459"/>
                  </a:cubicBezTo>
                  <a:lnTo>
                    <a:pt x="0" y="11323"/>
                  </a:lnTo>
                  <a:cubicBezTo>
                    <a:pt x="0" y="8320"/>
                    <a:pt x="1193" y="5440"/>
                    <a:pt x="3316" y="3316"/>
                  </a:cubicBezTo>
                  <a:cubicBezTo>
                    <a:pt x="5440" y="1193"/>
                    <a:pt x="8320" y="0"/>
                    <a:pt x="11323" y="0"/>
                  </a:cubicBezTo>
                  <a:close/>
                </a:path>
              </a:pathLst>
            </a:custGeom>
            <a:ln w="38100" cap="sq">
              <a:solidFill>
                <a:srgbClr val="000000"/>
              </a:solidFill>
              <a:prstDash val="solid"/>
              <a:miter/>
            </a:ln>
          </p:spPr>
        </p:sp>
        <p:sp>
          <p:nvSpPr>
            <p:cNvPr name="TextBox 8" id="8"/>
            <p:cNvSpPr txBox="true"/>
            <p:nvPr/>
          </p:nvSpPr>
          <p:spPr>
            <a:xfrm>
              <a:off x="0" y="-28575"/>
              <a:ext cx="2701197" cy="389357"/>
            </a:xfrm>
            <a:prstGeom prst="rect">
              <a:avLst/>
            </a:prstGeom>
          </p:spPr>
          <p:txBody>
            <a:bodyPr anchor="ctr" rtlCol="false" tIns="50800" lIns="50800" bIns="50800" rIns="50800"/>
            <a:lstStyle/>
            <a:p>
              <a:pPr algn="r">
                <a:lnSpc>
                  <a:spcPts val="1960"/>
                </a:lnSpc>
              </a:pPr>
            </a:p>
          </p:txBody>
        </p:sp>
      </p:grpSp>
      <p:sp>
        <p:nvSpPr>
          <p:cNvPr name="TextBox 9" id="9"/>
          <p:cNvSpPr txBox="true"/>
          <p:nvPr/>
        </p:nvSpPr>
        <p:spPr>
          <a:xfrm rot="0">
            <a:off x="1651239" y="1561542"/>
            <a:ext cx="9608933" cy="821053"/>
          </a:xfrm>
          <a:prstGeom prst="rect">
            <a:avLst/>
          </a:prstGeom>
        </p:spPr>
        <p:txBody>
          <a:bodyPr anchor="t" rtlCol="false" tIns="0" lIns="0" bIns="0" rIns="0">
            <a:spAutoFit/>
          </a:bodyPr>
          <a:lstStyle/>
          <a:p>
            <a:pPr algn="l">
              <a:lnSpc>
                <a:spcPts val="6434"/>
              </a:lnSpc>
            </a:pPr>
            <a:r>
              <a:rPr lang="en-US" sz="5499" spc="335">
                <a:solidFill>
                  <a:srgbClr val="3B3B3B"/>
                </a:solidFill>
                <a:latin typeface="Calistoga"/>
                <a:ea typeface="Calistoga"/>
                <a:cs typeface="Calistoga"/>
                <a:sym typeface="Calistoga"/>
              </a:rPr>
              <a:t>Setting, Mood and Imagery</a:t>
            </a:r>
          </a:p>
        </p:txBody>
      </p:sp>
      <p:sp>
        <p:nvSpPr>
          <p:cNvPr name="TextBox 10" id="10"/>
          <p:cNvSpPr txBox="true"/>
          <p:nvPr/>
        </p:nvSpPr>
        <p:spPr>
          <a:xfrm rot="0">
            <a:off x="1327652" y="3065462"/>
            <a:ext cx="4844114" cy="59391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Setting</a:t>
            </a:r>
            <a:r>
              <a:rPr lang="en-US" sz="2800">
                <a:solidFill>
                  <a:srgbClr val="000000"/>
                </a:solidFill>
                <a:latin typeface="Lato"/>
                <a:ea typeface="Lato"/>
                <a:cs typeface="Lato"/>
                <a:sym typeface="Lato"/>
              </a:rPr>
              <a:t>: </a:t>
            </a:r>
          </a:p>
          <a:p>
            <a:pPr algn="l">
              <a:lnSpc>
                <a:spcPts val="3920"/>
              </a:lnSpc>
            </a:pPr>
            <a:r>
              <a:rPr lang="en-US" sz="2800">
                <a:solidFill>
                  <a:srgbClr val="000000"/>
                </a:solidFill>
                <a:latin typeface="Lato"/>
                <a:ea typeface="Lato"/>
                <a:cs typeface="Lato"/>
                <a:sym typeface="Lato"/>
              </a:rPr>
              <a:t>The time and place where the narrative occurs. It includes the physical location, historical period, season, time of day, and even the cultural context. The setting creates a backdrop against which the characters interact and the plot unfolds. It can influence the story's atmosphere, events, and the behaviour of characters.</a:t>
            </a:r>
          </a:p>
        </p:txBody>
      </p:sp>
      <p:sp>
        <p:nvSpPr>
          <p:cNvPr name="TextBox 11" id="11"/>
          <p:cNvSpPr txBox="true"/>
          <p:nvPr/>
        </p:nvSpPr>
        <p:spPr>
          <a:xfrm rot="0">
            <a:off x="6739646" y="3065462"/>
            <a:ext cx="4844114" cy="59391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Mood</a:t>
            </a:r>
            <a:r>
              <a:rPr lang="en-US" sz="2800">
                <a:solidFill>
                  <a:srgbClr val="000000"/>
                </a:solidFill>
                <a:latin typeface="Lato"/>
                <a:ea typeface="Lato"/>
                <a:cs typeface="Lato"/>
                <a:sym typeface="Lato"/>
              </a:rPr>
              <a:t>: </a:t>
            </a:r>
          </a:p>
          <a:p>
            <a:pPr algn="l">
              <a:lnSpc>
                <a:spcPts val="3920"/>
              </a:lnSpc>
            </a:pPr>
            <a:r>
              <a:rPr lang="en-US" sz="2800">
                <a:solidFill>
                  <a:srgbClr val="000000"/>
                </a:solidFill>
                <a:latin typeface="Lato"/>
                <a:ea typeface="Lato"/>
                <a:cs typeface="Lato"/>
                <a:sym typeface="Lato"/>
              </a:rPr>
              <a:t>The emotional atmosphere that a writer creates for the reader. It's the feeling or vibe that permeates the story, which can range from joyful, eerie, and suspenseful to melancholic, peaceful, or tense. Writers convey mood through techniques, such as word choice, setting, imagery and tone.</a:t>
            </a:r>
          </a:p>
        </p:txBody>
      </p:sp>
      <p:sp>
        <p:nvSpPr>
          <p:cNvPr name="TextBox 12" id="12"/>
          <p:cNvSpPr txBox="true"/>
          <p:nvPr/>
        </p:nvSpPr>
        <p:spPr>
          <a:xfrm rot="0">
            <a:off x="12116234" y="3065462"/>
            <a:ext cx="4844114" cy="59391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Imagery</a:t>
            </a:r>
            <a:r>
              <a:rPr lang="en-US" sz="2800">
                <a:solidFill>
                  <a:srgbClr val="000000"/>
                </a:solidFill>
                <a:latin typeface="Lato"/>
                <a:ea typeface="Lato"/>
                <a:cs typeface="Lato"/>
                <a:sym typeface="Lato"/>
              </a:rPr>
              <a:t>: </a:t>
            </a:r>
          </a:p>
          <a:p>
            <a:pPr algn="l">
              <a:lnSpc>
                <a:spcPts val="3920"/>
              </a:lnSpc>
            </a:pPr>
            <a:r>
              <a:rPr lang="en-US" sz="2800">
                <a:solidFill>
                  <a:srgbClr val="000000"/>
                </a:solidFill>
                <a:latin typeface="Lato"/>
                <a:ea typeface="Lato"/>
                <a:cs typeface="Lato"/>
                <a:sym typeface="Lato"/>
              </a:rPr>
              <a:t>The use of descriptive language that appeals to the five senses (sight, sound, smell, taste, and touch) to create vivid pictures in the reader's mind. These detailed and evocative descriptions make scenes more vivid and engaging and help to convey emotions, settings and actions more powerfully.</a:t>
            </a:r>
          </a:p>
        </p:txBody>
      </p:sp>
      <p:sp>
        <p:nvSpPr>
          <p:cNvPr name="Freeform 13" id="13"/>
          <p:cNvSpPr/>
          <p:nvPr/>
        </p:nvSpPr>
        <p:spPr>
          <a:xfrm flipH="false" flipV="false" rot="7534878">
            <a:off x="14089914" y="-406286"/>
            <a:ext cx="3013834" cy="5467273"/>
          </a:xfrm>
          <a:custGeom>
            <a:avLst/>
            <a:gdLst/>
            <a:ahLst/>
            <a:cxnLst/>
            <a:rect r="r" b="b" t="t" l="l"/>
            <a:pathLst>
              <a:path h="5467273" w="3013834">
                <a:moveTo>
                  <a:pt x="0" y="0"/>
                </a:moveTo>
                <a:lnTo>
                  <a:pt x="3013834" y="0"/>
                </a:lnTo>
                <a:lnTo>
                  <a:pt x="3013834" y="5467273"/>
                </a:lnTo>
                <a:lnTo>
                  <a:pt x="0" y="5467273"/>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9144000" y="1410483"/>
            <a:ext cx="7543409" cy="2300766"/>
            <a:chOff x="0" y="0"/>
            <a:chExt cx="1986741" cy="605963"/>
          </a:xfrm>
        </p:grpSpPr>
        <p:sp>
          <p:nvSpPr>
            <p:cNvPr name="Freeform 7" id="7"/>
            <p:cNvSpPr/>
            <p:nvPr/>
          </p:nvSpPr>
          <p:spPr>
            <a:xfrm flipH="false" flipV="false" rot="0">
              <a:off x="0" y="0"/>
              <a:ext cx="1986741" cy="605963"/>
            </a:xfrm>
            <a:custGeom>
              <a:avLst/>
              <a:gdLst/>
              <a:ahLst/>
              <a:cxnLst/>
              <a:rect r="r" b="b" t="t" l="l"/>
              <a:pathLst>
                <a:path h="605963" w="1986741">
                  <a:moveTo>
                    <a:pt x="52342" y="0"/>
                  </a:moveTo>
                  <a:lnTo>
                    <a:pt x="1934399" y="0"/>
                  </a:lnTo>
                  <a:cubicBezTo>
                    <a:pt x="1948281" y="0"/>
                    <a:pt x="1961595" y="5515"/>
                    <a:pt x="1971411" y="15331"/>
                  </a:cubicBezTo>
                  <a:cubicBezTo>
                    <a:pt x="1981227" y="25147"/>
                    <a:pt x="1986741" y="38460"/>
                    <a:pt x="1986741" y="52342"/>
                  </a:cubicBezTo>
                  <a:lnTo>
                    <a:pt x="1986741" y="553621"/>
                  </a:lnTo>
                  <a:cubicBezTo>
                    <a:pt x="1986741" y="567503"/>
                    <a:pt x="1981227" y="580816"/>
                    <a:pt x="1971411" y="590632"/>
                  </a:cubicBezTo>
                  <a:cubicBezTo>
                    <a:pt x="1961595" y="600449"/>
                    <a:pt x="1948281" y="605963"/>
                    <a:pt x="1934399" y="605963"/>
                  </a:cubicBezTo>
                  <a:lnTo>
                    <a:pt x="52342" y="605963"/>
                  </a:lnTo>
                  <a:cubicBezTo>
                    <a:pt x="38460" y="605963"/>
                    <a:pt x="25147" y="600449"/>
                    <a:pt x="15331" y="590632"/>
                  </a:cubicBezTo>
                  <a:cubicBezTo>
                    <a:pt x="5515" y="580816"/>
                    <a:pt x="0" y="567503"/>
                    <a:pt x="0" y="553621"/>
                  </a:cubicBezTo>
                  <a:lnTo>
                    <a:pt x="0" y="52342"/>
                  </a:lnTo>
                  <a:cubicBezTo>
                    <a:pt x="0" y="38460"/>
                    <a:pt x="5515" y="25147"/>
                    <a:pt x="15331" y="15331"/>
                  </a:cubicBezTo>
                  <a:cubicBezTo>
                    <a:pt x="25147" y="5515"/>
                    <a:pt x="38460" y="0"/>
                    <a:pt x="52342" y="0"/>
                  </a:cubicBezTo>
                  <a:close/>
                </a:path>
              </a:pathLst>
            </a:custGeom>
            <a:ln w="38100" cap="rnd">
              <a:solidFill>
                <a:srgbClr val="000000"/>
              </a:solidFill>
              <a:prstDash val="solid"/>
              <a:round/>
            </a:ln>
          </p:spPr>
        </p:sp>
        <p:sp>
          <p:nvSpPr>
            <p:cNvPr name="TextBox 8" id="8"/>
            <p:cNvSpPr txBox="true"/>
            <p:nvPr/>
          </p:nvSpPr>
          <p:spPr>
            <a:xfrm>
              <a:off x="0" y="-28575"/>
              <a:ext cx="1986741" cy="634538"/>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9557657" y="1673137"/>
            <a:ext cx="6716094" cy="1784983"/>
          </a:xfrm>
          <a:prstGeom prst="rect">
            <a:avLst/>
          </a:prstGeom>
        </p:spPr>
        <p:txBody>
          <a:bodyPr anchor="t" rtlCol="false" tIns="0" lIns="0" bIns="0" rIns="0">
            <a:spAutoFit/>
          </a:bodyPr>
          <a:lstStyle/>
          <a:p>
            <a:pPr algn="l">
              <a:lnSpc>
                <a:spcPts val="7019"/>
              </a:lnSpc>
            </a:pPr>
            <a:r>
              <a:rPr lang="en-US" sz="5999" spc="365">
                <a:solidFill>
                  <a:srgbClr val="3B3B3B"/>
                </a:solidFill>
                <a:latin typeface="Calistoga"/>
                <a:ea typeface="Calistoga"/>
                <a:cs typeface="Calistoga"/>
                <a:sym typeface="Calistoga"/>
              </a:rPr>
              <a:t>Voice and Perspective</a:t>
            </a:r>
          </a:p>
        </p:txBody>
      </p:sp>
      <p:sp>
        <p:nvSpPr>
          <p:cNvPr name="TextBox 10" id="10"/>
          <p:cNvSpPr txBox="true"/>
          <p:nvPr/>
        </p:nvSpPr>
        <p:spPr>
          <a:xfrm rot="0">
            <a:off x="9144000" y="3927962"/>
            <a:ext cx="7543409" cy="4948555"/>
          </a:xfrm>
          <a:prstGeom prst="rect">
            <a:avLst/>
          </a:prstGeom>
        </p:spPr>
        <p:txBody>
          <a:bodyPr anchor="t" rtlCol="false" tIns="0" lIns="0" bIns="0" rIns="0">
            <a:spAutoFit/>
          </a:bodyPr>
          <a:lstStyle/>
          <a:p>
            <a:pPr algn="l">
              <a:lnSpc>
                <a:spcPts val="3920"/>
              </a:lnSpc>
            </a:pPr>
            <a:r>
              <a:rPr lang="en-US" sz="2800">
                <a:solidFill>
                  <a:srgbClr val="000000"/>
                </a:solidFill>
                <a:latin typeface="Lato"/>
                <a:ea typeface="Lato"/>
                <a:cs typeface="Lato"/>
                <a:sym typeface="Lato"/>
              </a:rPr>
              <a:t>Write a short story or passage that is told </a:t>
            </a:r>
          </a:p>
          <a:p>
            <a:pPr algn="l">
              <a:lnSpc>
                <a:spcPts val="3920"/>
              </a:lnSpc>
            </a:pPr>
            <a:r>
              <a:rPr lang="en-US" sz="2800">
                <a:solidFill>
                  <a:srgbClr val="000000"/>
                </a:solidFill>
                <a:latin typeface="Lato"/>
                <a:ea typeface="Lato"/>
                <a:cs typeface="Lato"/>
                <a:sym typeface="Lato"/>
              </a:rPr>
              <a:t>from the</a:t>
            </a:r>
            <a:r>
              <a:rPr lang="en-US" sz="2800">
                <a:solidFill>
                  <a:srgbClr val="000000"/>
                </a:solidFill>
                <a:latin typeface="Lato"/>
                <a:ea typeface="Lato"/>
                <a:cs typeface="Lato"/>
                <a:sym typeface="Lato"/>
              </a:rPr>
              <a:t> perspective of an inanimate object, who witnesses the events of the plot. </a:t>
            </a:r>
          </a:p>
          <a:p>
            <a:pPr algn="l">
              <a:lnSpc>
                <a:spcPts val="3920"/>
              </a:lnSpc>
            </a:pPr>
          </a:p>
          <a:p>
            <a:pPr algn="l">
              <a:lnSpc>
                <a:spcPts val="3920"/>
              </a:lnSpc>
            </a:pPr>
            <a:r>
              <a:rPr lang="en-US" sz="2800">
                <a:solidFill>
                  <a:srgbClr val="000000"/>
                </a:solidFill>
                <a:latin typeface="Lato"/>
                <a:ea typeface="Lato"/>
                <a:cs typeface="Lato"/>
                <a:sym typeface="Lato"/>
              </a:rPr>
              <a:t>Choose from the following or come up with your own item:</a:t>
            </a:r>
          </a:p>
          <a:p>
            <a:pPr algn="l" marL="604521" indent="-302261" lvl="1">
              <a:lnSpc>
                <a:spcPts val="3920"/>
              </a:lnSpc>
              <a:buFont typeface="Arial"/>
              <a:buChar char="•"/>
            </a:pPr>
            <a:r>
              <a:rPr lang="en-US" sz="2800">
                <a:solidFill>
                  <a:srgbClr val="000000"/>
                </a:solidFill>
                <a:latin typeface="Lato"/>
                <a:ea typeface="Lato"/>
                <a:cs typeface="Lato"/>
                <a:sym typeface="Lato"/>
              </a:rPr>
              <a:t>a house</a:t>
            </a:r>
          </a:p>
          <a:p>
            <a:pPr algn="l" marL="604521" indent="-302261" lvl="1">
              <a:lnSpc>
                <a:spcPts val="3920"/>
              </a:lnSpc>
              <a:buFont typeface="Arial"/>
              <a:buChar char="•"/>
            </a:pPr>
            <a:r>
              <a:rPr lang="en-US" sz="2800">
                <a:solidFill>
                  <a:srgbClr val="000000"/>
                </a:solidFill>
                <a:latin typeface="Lato"/>
                <a:ea typeface="Lato"/>
                <a:cs typeface="Lato"/>
                <a:sym typeface="Lato"/>
              </a:rPr>
              <a:t>a tree</a:t>
            </a:r>
          </a:p>
          <a:p>
            <a:pPr algn="l" marL="604521" indent="-302261" lvl="1">
              <a:lnSpc>
                <a:spcPts val="3920"/>
              </a:lnSpc>
              <a:buFont typeface="Arial"/>
              <a:buChar char="•"/>
            </a:pPr>
            <a:r>
              <a:rPr lang="en-US" sz="2800">
                <a:solidFill>
                  <a:srgbClr val="000000"/>
                </a:solidFill>
                <a:latin typeface="Lato"/>
                <a:ea typeface="Lato"/>
                <a:cs typeface="Lato"/>
                <a:sym typeface="Lato"/>
              </a:rPr>
              <a:t>a book</a:t>
            </a:r>
          </a:p>
          <a:p>
            <a:pPr algn="l" marL="604521" indent="-302261" lvl="1">
              <a:lnSpc>
                <a:spcPts val="3920"/>
              </a:lnSpc>
              <a:buFont typeface="Arial"/>
              <a:buChar char="•"/>
            </a:pPr>
            <a:r>
              <a:rPr lang="en-US" sz="2800">
                <a:solidFill>
                  <a:srgbClr val="000000"/>
                </a:solidFill>
                <a:latin typeface="Lato"/>
                <a:ea typeface="Lato"/>
                <a:cs typeface="Lato"/>
                <a:sym typeface="Lato"/>
              </a:rPr>
              <a:t>a technological item</a:t>
            </a:r>
          </a:p>
        </p:txBody>
      </p:sp>
      <p:sp>
        <p:nvSpPr>
          <p:cNvPr name="Freeform 11" id="11"/>
          <p:cNvSpPr/>
          <p:nvPr/>
        </p:nvSpPr>
        <p:spPr>
          <a:xfrm flipH="false" flipV="false" rot="0">
            <a:off x="1567052" y="1410483"/>
            <a:ext cx="6554694" cy="7466035"/>
          </a:xfrm>
          <a:custGeom>
            <a:avLst/>
            <a:gdLst/>
            <a:ahLst/>
            <a:cxnLst/>
            <a:rect r="r" b="b" t="t" l="l"/>
            <a:pathLst>
              <a:path h="7466035" w="6554694">
                <a:moveTo>
                  <a:pt x="0" y="0"/>
                </a:moveTo>
                <a:lnTo>
                  <a:pt x="6554694" y="0"/>
                </a:lnTo>
                <a:lnTo>
                  <a:pt x="6554694" y="7466034"/>
                </a:lnTo>
                <a:lnTo>
                  <a:pt x="0" y="7466034"/>
                </a:lnTo>
                <a:lnTo>
                  <a:pt x="0" y="0"/>
                </a:lnTo>
                <a:close/>
              </a:path>
            </a:pathLst>
          </a:custGeom>
          <a:blipFill>
            <a:blip r:embed="rId3"/>
            <a:stretch>
              <a:fillRect l="0" t="0" r="-73237"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3662990" y="1373153"/>
            <a:ext cx="10962020" cy="1369845"/>
            <a:chOff x="0" y="0"/>
            <a:chExt cx="2887116" cy="360782"/>
          </a:xfrm>
        </p:grpSpPr>
        <p:sp>
          <p:nvSpPr>
            <p:cNvPr name="Freeform 7" id="7"/>
            <p:cNvSpPr/>
            <p:nvPr/>
          </p:nvSpPr>
          <p:spPr>
            <a:xfrm flipH="false" flipV="false" rot="0">
              <a:off x="0" y="0"/>
              <a:ext cx="2887116" cy="360782"/>
            </a:xfrm>
            <a:custGeom>
              <a:avLst/>
              <a:gdLst/>
              <a:ahLst/>
              <a:cxnLst/>
              <a:rect r="r" b="b" t="t" l="l"/>
              <a:pathLst>
                <a:path h="360782" w="2887116">
                  <a:moveTo>
                    <a:pt x="10594" y="0"/>
                  </a:moveTo>
                  <a:lnTo>
                    <a:pt x="2876523" y="0"/>
                  </a:lnTo>
                  <a:cubicBezTo>
                    <a:pt x="2879332" y="0"/>
                    <a:pt x="2882027" y="1116"/>
                    <a:pt x="2884013" y="3103"/>
                  </a:cubicBezTo>
                  <a:cubicBezTo>
                    <a:pt x="2886000" y="5090"/>
                    <a:pt x="2887116" y="7784"/>
                    <a:pt x="2887116" y="10594"/>
                  </a:cubicBezTo>
                  <a:lnTo>
                    <a:pt x="2887116" y="350189"/>
                  </a:lnTo>
                  <a:cubicBezTo>
                    <a:pt x="2887116" y="352998"/>
                    <a:pt x="2886000" y="355693"/>
                    <a:pt x="2884013" y="357679"/>
                  </a:cubicBezTo>
                  <a:cubicBezTo>
                    <a:pt x="2882027" y="359666"/>
                    <a:pt x="2879332" y="360782"/>
                    <a:pt x="2876523" y="360782"/>
                  </a:cubicBezTo>
                  <a:lnTo>
                    <a:pt x="10594" y="360782"/>
                  </a:lnTo>
                  <a:cubicBezTo>
                    <a:pt x="7784" y="360782"/>
                    <a:pt x="5090" y="359666"/>
                    <a:pt x="3103" y="357679"/>
                  </a:cubicBezTo>
                  <a:cubicBezTo>
                    <a:pt x="1116" y="355693"/>
                    <a:pt x="0" y="352998"/>
                    <a:pt x="0" y="350189"/>
                  </a:cubicBezTo>
                  <a:lnTo>
                    <a:pt x="0" y="10594"/>
                  </a:lnTo>
                  <a:cubicBezTo>
                    <a:pt x="0" y="7784"/>
                    <a:pt x="1116" y="5090"/>
                    <a:pt x="3103" y="3103"/>
                  </a:cubicBezTo>
                  <a:cubicBezTo>
                    <a:pt x="5090" y="1116"/>
                    <a:pt x="7784" y="0"/>
                    <a:pt x="10594" y="0"/>
                  </a:cubicBezTo>
                  <a:close/>
                </a:path>
              </a:pathLst>
            </a:custGeom>
            <a:ln w="38100" cap="sq">
              <a:solidFill>
                <a:srgbClr val="000000"/>
              </a:solidFill>
              <a:prstDash val="solid"/>
              <a:miter/>
            </a:ln>
          </p:spPr>
        </p:sp>
        <p:sp>
          <p:nvSpPr>
            <p:cNvPr name="TextBox 8" id="8"/>
            <p:cNvSpPr txBox="true"/>
            <p:nvPr/>
          </p:nvSpPr>
          <p:spPr>
            <a:xfrm>
              <a:off x="0" y="-28575"/>
              <a:ext cx="2887116" cy="389357"/>
            </a:xfrm>
            <a:prstGeom prst="rect">
              <a:avLst/>
            </a:prstGeom>
          </p:spPr>
          <p:txBody>
            <a:bodyPr anchor="ctr" rtlCol="false" tIns="50800" lIns="50800" bIns="50800" rIns="50800"/>
            <a:lstStyle/>
            <a:p>
              <a:pPr algn="r">
                <a:lnSpc>
                  <a:spcPts val="1960"/>
                </a:lnSpc>
              </a:pPr>
            </a:p>
          </p:txBody>
        </p:sp>
      </p:grpSp>
      <p:sp>
        <p:nvSpPr>
          <p:cNvPr name="Freeform 9" id="9"/>
          <p:cNvSpPr/>
          <p:nvPr/>
        </p:nvSpPr>
        <p:spPr>
          <a:xfrm flipH="false" flipV="false" rot="562382">
            <a:off x="16526690" y="7641383"/>
            <a:ext cx="1465219" cy="2349049"/>
          </a:xfrm>
          <a:custGeom>
            <a:avLst/>
            <a:gdLst/>
            <a:ahLst/>
            <a:cxnLst/>
            <a:rect r="r" b="b" t="t" l="l"/>
            <a:pathLst>
              <a:path h="2349049" w="1465219">
                <a:moveTo>
                  <a:pt x="0" y="0"/>
                </a:moveTo>
                <a:lnTo>
                  <a:pt x="1465220" y="0"/>
                </a:lnTo>
                <a:lnTo>
                  <a:pt x="1465220" y="2349050"/>
                </a:lnTo>
                <a:lnTo>
                  <a:pt x="0" y="2349050"/>
                </a:lnTo>
                <a:lnTo>
                  <a:pt x="0" y="0"/>
                </a:lnTo>
                <a:close/>
              </a:path>
            </a:pathLst>
          </a:custGeom>
          <a:blipFill>
            <a:blip r:embed="rId3"/>
            <a:stretch>
              <a:fillRect l="0" t="0" r="0" b="0"/>
            </a:stretch>
          </a:blipFill>
        </p:spPr>
      </p:sp>
      <p:sp>
        <p:nvSpPr>
          <p:cNvPr name="Freeform 10" id="10"/>
          <p:cNvSpPr/>
          <p:nvPr/>
        </p:nvSpPr>
        <p:spPr>
          <a:xfrm flipH="true" flipV="false" rot="1252253">
            <a:off x="3367" y="0"/>
            <a:ext cx="3659623" cy="2570885"/>
          </a:xfrm>
          <a:custGeom>
            <a:avLst/>
            <a:gdLst/>
            <a:ahLst/>
            <a:cxnLst/>
            <a:rect r="r" b="b" t="t" l="l"/>
            <a:pathLst>
              <a:path h="2570885" w="3659623">
                <a:moveTo>
                  <a:pt x="3659623" y="0"/>
                </a:moveTo>
                <a:lnTo>
                  <a:pt x="0" y="0"/>
                </a:lnTo>
                <a:lnTo>
                  <a:pt x="0" y="2570885"/>
                </a:lnTo>
                <a:lnTo>
                  <a:pt x="3659623" y="2570885"/>
                </a:lnTo>
                <a:lnTo>
                  <a:pt x="3659623" y="0"/>
                </a:lnTo>
                <a:close/>
              </a:path>
            </a:pathLst>
          </a:custGeom>
          <a:blipFill>
            <a:blip r:embed="rId4"/>
            <a:stretch>
              <a:fillRect l="0" t="0" r="0" b="0"/>
            </a:stretch>
          </a:blipFill>
        </p:spPr>
      </p:sp>
      <p:sp>
        <p:nvSpPr>
          <p:cNvPr name="TextBox 11" id="11"/>
          <p:cNvSpPr txBox="true"/>
          <p:nvPr/>
        </p:nvSpPr>
        <p:spPr>
          <a:xfrm rot="0">
            <a:off x="4000472" y="1635807"/>
            <a:ext cx="10287055" cy="899158"/>
          </a:xfrm>
          <a:prstGeom prst="rect">
            <a:avLst/>
          </a:prstGeom>
        </p:spPr>
        <p:txBody>
          <a:bodyPr anchor="t" rtlCol="false" tIns="0" lIns="0" bIns="0" rIns="0">
            <a:spAutoFit/>
          </a:bodyPr>
          <a:lstStyle/>
          <a:p>
            <a:pPr algn="ctr">
              <a:lnSpc>
                <a:spcPts val="7019"/>
              </a:lnSpc>
            </a:pPr>
            <a:r>
              <a:rPr lang="en-US" sz="5999" spc="365">
                <a:solidFill>
                  <a:srgbClr val="3B3B3B"/>
                </a:solidFill>
                <a:latin typeface="Calistoga"/>
                <a:ea typeface="Calistoga"/>
                <a:cs typeface="Calistoga"/>
                <a:sym typeface="Calistoga"/>
              </a:rPr>
              <a:t>Structure and Sequencing</a:t>
            </a:r>
          </a:p>
        </p:txBody>
      </p:sp>
      <p:sp>
        <p:nvSpPr>
          <p:cNvPr name="TextBox 12" id="12"/>
          <p:cNvSpPr txBox="true"/>
          <p:nvPr/>
        </p:nvSpPr>
        <p:spPr>
          <a:xfrm rot="0">
            <a:off x="1309949" y="3372053"/>
            <a:ext cx="7304594" cy="54438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Structure</a:t>
            </a:r>
            <a:r>
              <a:rPr lang="en-US" sz="2800">
                <a:solidFill>
                  <a:srgbClr val="000000"/>
                </a:solidFill>
                <a:latin typeface="Lato"/>
                <a:ea typeface="Lato"/>
                <a:cs typeface="Lato"/>
                <a:sym typeface="Lato"/>
              </a:rPr>
              <a:t>:</a:t>
            </a:r>
          </a:p>
          <a:p>
            <a:pPr algn="l">
              <a:lnSpc>
                <a:spcPts val="3920"/>
              </a:lnSpc>
            </a:pPr>
          </a:p>
          <a:p>
            <a:pPr algn="l">
              <a:lnSpc>
                <a:spcPts val="3920"/>
              </a:lnSpc>
            </a:pPr>
            <a:r>
              <a:rPr lang="en-US" sz="2800">
                <a:solidFill>
                  <a:srgbClr val="000000"/>
                </a:solidFill>
                <a:latin typeface="Lato"/>
                <a:ea typeface="Lato"/>
                <a:cs typeface="Lato"/>
                <a:sym typeface="Lato"/>
              </a:rPr>
              <a:t>The overall framework and organisation of a narrative, determining how the story is constructed and presented to the reader. A well-structured narrative ensures that the story flows logically and engages the reader. </a:t>
            </a:r>
          </a:p>
          <a:p>
            <a:pPr algn="l">
              <a:lnSpc>
                <a:spcPts val="3920"/>
              </a:lnSpc>
            </a:pPr>
          </a:p>
          <a:p>
            <a:pPr algn="l">
              <a:lnSpc>
                <a:spcPts val="3920"/>
              </a:lnSpc>
            </a:pPr>
            <a:r>
              <a:rPr lang="en-US" sz="2800">
                <a:solidFill>
                  <a:srgbClr val="000000"/>
                </a:solidFill>
                <a:latin typeface="Lato"/>
                <a:ea typeface="Lato"/>
                <a:cs typeface="Lato"/>
                <a:sym typeface="Lato"/>
              </a:rPr>
              <a:t>The most common narrative structure follows the sequence of exposition, rising action, climax, falling action and resolution.</a:t>
            </a:r>
          </a:p>
        </p:txBody>
      </p:sp>
      <p:sp>
        <p:nvSpPr>
          <p:cNvPr name="TextBox 13" id="13"/>
          <p:cNvSpPr txBox="true"/>
          <p:nvPr/>
        </p:nvSpPr>
        <p:spPr>
          <a:xfrm rot="0">
            <a:off x="9617133" y="3372053"/>
            <a:ext cx="7304594" cy="5443855"/>
          </a:xfrm>
          <a:prstGeom prst="rect">
            <a:avLst/>
          </a:prstGeom>
        </p:spPr>
        <p:txBody>
          <a:bodyPr anchor="t" rtlCol="false" tIns="0" lIns="0" bIns="0" rIns="0">
            <a:spAutoFit/>
          </a:bodyPr>
          <a:lstStyle/>
          <a:p>
            <a:pPr algn="l">
              <a:lnSpc>
                <a:spcPts val="3920"/>
              </a:lnSpc>
            </a:pPr>
            <a:r>
              <a:rPr lang="en-US" sz="2800" b="true">
                <a:solidFill>
                  <a:srgbClr val="000000"/>
                </a:solidFill>
                <a:latin typeface="Lato Heavy"/>
                <a:ea typeface="Lato Heavy"/>
                <a:cs typeface="Lato Heavy"/>
                <a:sym typeface="Lato Heavy"/>
              </a:rPr>
              <a:t>Sequencing</a:t>
            </a:r>
            <a:r>
              <a:rPr lang="en-US" sz="2800">
                <a:solidFill>
                  <a:srgbClr val="000000"/>
                </a:solidFill>
                <a:latin typeface="Lato"/>
                <a:ea typeface="Lato"/>
                <a:cs typeface="Lato"/>
                <a:sym typeface="Lato"/>
              </a:rPr>
              <a:t>: </a:t>
            </a:r>
          </a:p>
          <a:p>
            <a:pPr algn="l">
              <a:lnSpc>
                <a:spcPts val="3920"/>
              </a:lnSpc>
            </a:pPr>
          </a:p>
          <a:p>
            <a:pPr algn="l">
              <a:lnSpc>
                <a:spcPts val="3920"/>
              </a:lnSpc>
            </a:pPr>
            <a:r>
              <a:rPr lang="en-US" sz="2800">
                <a:solidFill>
                  <a:srgbClr val="000000"/>
                </a:solidFill>
                <a:latin typeface="Lato"/>
                <a:ea typeface="Lato"/>
                <a:cs typeface="Lato"/>
                <a:sym typeface="Lato"/>
              </a:rPr>
              <a:t>The order in which events and scenes are presented in the narrative. It can significantly impact the reader’s understanding and engagement with the story. </a:t>
            </a:r>
          </a:p>
          <a:p>
            <a:pPr algn="l">
              <a:lnSpc>
                <a:spcPts val="3920"/>
              </a:lnSpc>
            </a:pPr>
          </a:p>
          <a:p>
            <a:pPr algn="l">
              <a:lnSpc>
                <a:spcPts val="3920"/>
              </a:lnSpc>
            </a:pPr>
            <a:r>
              <a:rPr lang="en-US" sz="2800">
                <a:solidFill>
                  <a:srgbClr val="000000"/>
                </a:solidFill>
                <a:latin typeface="Lato"/>
                <a:ea typeface="Lato"/>
                <a:cs typeface="Lato"/>
                <a:sym typeface="Lato"/>
              </a:rPr>
              <a:t>Different sequencing techniques include chronological order, non-linear order, flashbacks, flash-forwards, parallel </a:t>
            </a:r>
          </a:p>
          <a:p>
            <a:pPr algn="l">
              <a:lnSpc>
                <a:spcPts val="3920"/>
              </a:lnSpc>
            </a:pPr>
            <a:r>
              <a:rPr lang="en-US" sz="2800">
                <a:solidFill>
                  <a:srgbClr val="000000"/>
                </a:solidFill>
                <a:latin typeface="Lato"/>
                <a:ea typeface="Lato"/>
                <a:cs typeface="Lato"/>
                <a:sym typeface="Lato"/>
              </a:rPr>
              <a:t>plotlines, shifts in perspective and pacing.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sp>
        <p:nvSpPr>
          <p:cNvPr name="Freeform 6" id="6"/>
          <p:cNvSpPr/>
          <p:nvPr/>
        </p:nvSpPr>
        <p:spPr>
          <a:xfrm flipH="false" flipV="false" rot="-1478056">
            <a:off x="11661210" y="3545517"/>
            <a:ext cx="8571881" cy="4885972"/>
          </a:xfrm>
          <a:custGeom>
            <a:avLst/>
            <a:gdLst/>
            <a:ahLst/>
            <a:cxnLst/>
            <a:rect r="r" b="b" t="t" l="l"/>
            <a:pathLst>
              <a:path h="4885972" w="8571881">
                <a:moveTo>
                  <a:pt x="0" y="0"/>
                </a:moveTo>
                <a:lnTo>
                  <a:pt x="8571881" y="0"/>
                </a:lnTo>
                <a:lnTo>
                  <a:pt x="8571881" y="4885972"/>
                </a:lnTo>
                <a:lnTo>
                  <a:pt x="0" y="4885972"/>
                </a:lnTo>
                <a:lnTo>
                  <a:pt x="0" y="0"/>
                </a:lnTo>
                <a:close/>
              </a:path>
            </a:pathLst>
          </a:custGeom>
          <a:blipFill>
            <a:blip r:embed="rId3"/>
            <a:stretch>
              <a:fillRect l="0" t="0" r="0" b="0"/>
            </a:stretch>
          </a:blipFill>
        </p:spPr>
      </p:sp>
      <p:sp>
        <p:nvSpPr>
          <p:cNvPr name="TextBox 7" id="7"/>
          <p:cNvSpPr txBox="true"/>
          <p:nvPr/>
        </p:nvSpPr>
        <p:spPr>
          <a:xfrm rot="0">
            <a:off x="2273287" y="3676650"/>
            <a:ext cx="5618971" cy="2962275"/>
          </a:xfrm>
          <a:prstGeom prst="rect">
            <a:avLst/>
          </a:prstGeom>
        </p:spPr>
        <p:txBody>
          <a:bodyPr anchor="t" rtlCol="false" tIns="0" lIns="0" bIns="0" rIns="0">
            <a:spAutoFit/>
          </a:bodyPr>
          <a:lstStyle/>
          <a:p>
            <a:pPr algn="l">
              <a:lnSpc>
                <a:spcPts val="11699"/>
              </a:lnSpc>
            </a:pPr>
            <a:r>
              <a:rPr lang="en-US" sz="9999" spc="389">
                <a:solidFill>
                  <a:srgbClr val="3B3B3B"/>
                </a:solidFill>
                <a:latin typeface="Calistoga"/>
                <a:ea typeface="Calistoga"/>
                <a:cs typeface="Calistoga"/>
                <a:sym typeface="Calistoga"/>
              </a:rPr>
              <a:t>Writing Prompts</a:t>
            </a:r>
          </a:p>
        </p:txBody>
      </p:sp>
      <p:sp>
        <p:nvSpPr>
          <p:cNvPr name="Freeform 8" id="8"/>
          <p:cNvSpPr/>
          <p:nvPr/>
        </p:nvSpPr>
        <p:spPr>
          <a:xfrm flipH="false" flipV="false" rot="-2306605">
            <a:off x="10301005" y="587161"/>
            <a:ext cx="5583567" cy="5668596"/>
          </a:xfrm>
          <a:custGeom>
            <a:avLst/>
            <a:gdLst/>
            <a:ahLst/>
            <a:cxnLst/>
            <a:rect r="r" b="b" t="t" l="l"/>
            <a:pathLst>
              <a:path h="5668596" w="5583567">
                <a:moveTo>
                  <a:pt x="0" y="0"/>
                </a:moveTo>
                <a:lnTo>
                  <a:pt x="5583567" y="0"/>
                </a:lnTo>
                <a:lnTo>
                  <a:pt x="5583567" y="5668596"/>
                </a:lnTo>
                <a:lnTo>
                  <a:pt x="0" y="5668596"/>
                </a:lnTo>
                <a:lnTo>
                  <a:pt x="0" y="0"/>
                </a:lnTo>
                <a:close/>
              </a:path>
            </a:pathLst>
          </a:custGeom>
          <a:blipFill>
            <a:blip r:embed="rId4"/>
            <a:stretch>
              <a:fillRect l="0" t="0" r="0" b="0"/>
            </a:stretch>
          </a:blipFill>
        </p:spPr>
      </p:sp>
      <p:sp>
        <p:nvSpPr>
          <p:cNvPr name="Freeform 9" id="9"/>
          <p:cNvSpPr/>
          <p:nvPr/>
        </p:nvSpPr>
        <p:spPr>
          <a:xfrm flipH="false" flipV="false" rot="5400000">
            <a:off x="9118978" y="5017746"/>
            <a:ext cx="3013834" cy="5467273"/>
          </a:xfrm>
          <a:custGeom>
            <a:avLst/>
            <a:gdLst/>
            <a:ahLst/>
            <a:cxnLst/>
            <a:rect r="r" b="b" t="t" l="l"/>
            <a:pathLst>
              <a:path h="5467273" w="3013834">
                <a:moveTo>
                  <a:pt x="0" y="0"/>
                </a:moveTo>
                <a:lnTo>
                  <a:pt x="3013834" y="0"/>
                </a:lnTo>
                <a:lnTo>
                  <a:pt x="3013834" y="5467273"/>
                </a:lnTo>
                <a:lnTo>
                  <a:pt x="0" y="5467273"/>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1567052" y="1410483"/>
            <a:ext cx="7543409" cy="2300766"/>
            <a:chOff x="0" y="0"/>
            <a:chExt cx="1986741" cy="605963"/>
          </a:xfrm>
        </p:grpSpPr>
        <p:sp>
          <p:nvSpPr>
            <p:cNvPr name="Freeform 7" id="7"/>
            <p:cNvSpPr/>
            <p:nvPr/>
          </p:nvSpPr>
          <p:spPr>
            <a:xfrm flipH="false" flipV="false" rot="0">
              <a:off x="0" y="0"/>
              <a:ext cx="1986741" cy="605963"/>
            </a:xfrm>
            <a:custGeom>
              <a:avLst/>
              <a:gdLst/>
              <a:ahLst/>
              <a:cxnLst/>
              <a:rect r="r" b="b" t="t" l="l"/>
              <a:pathLst>
                <a:path h="605963" w="1986741">
                  <a:moveTo>
                    <a:pt x="15395" y="0"/>
                  </a:moveTo>
                  <a:lnTo>
                    <a:pt x="1971347" y="0"/>
                  </a:lnTo>
                  <a:cubicBezTo>
                    <a:pt x="1979849" y="0"/>
                    <a:pt x="1986741" y="6892"/>
                    <a:pt x="1986741" y="15395"/>
                  </a:cubicBezTo>
                  <a:lnTo>
                    <a:pt x="1986741" y="590568"/>
                  </a:lnTo>
                  <a:cubicBezTo>
                    <a:pt x="1986741" y="599071"/>
                    <a:pt x="1979849" y="605963"/>
                    <a:pt x="1971347" y="605963"/>
                  </a:cubicBezTo>
                  <a:lnTo>
                    <a:pt x="15395" y="605963"/>
                  </a:lnTo>
                  <a:cubicBezTo>
                    <a:pt x="6892" y="605963"/>
                    <a:pt x="0" y="599071"/>
                    <a:pt x="0" y="590568"/>
                  </a:cubicBezTo>
                  <a:lnTo>
                    <a:pt x="0" y="15395"/>
                  </a:lnTo>
                  <a:cubicBezTo>
                    <a:pt x="0" y="6892"/>
                    <a:pt x="6892" y="0"/>
                    <a:pt x="15395" y="0"/>
                  </a:cubicBezTo>
                  <a:close/>
                </a:path>
              </a:pathLst>
            </a:custGeom>
            <a:ln w="38100" cap="sq">
              <a:solidFill>
                <a:srgbClr val="000000"/>
              </a:solidFill>
              <a:prstDash val="solid"/>
              <a:miter/>
            </a:ln>
          </p:spPr>
        </p:sp>
        <p:sp>
          <p:nvSpPr>
            <p:cNvPr name="TextBox 8" id="8"/>
            <p:cNvSpPr txBox="true"/>
            <p:nvPr/>
          </p:nvSpPr>
          <p:spPr>
            <a:xfrm>
              <a:off x="0" y="-28575"/>
              <a:ext cx="1986741" cy="634538"/>
            </a:xfrm>
            <a:prstGeom prst="rect">
              <a:avLst/>
            </a:prstGeom>
          </p:spPr>
          <p:txBody>
            <a:bodyPr anchor="ctr" rtlCol="false" tIns="50800" lIns="50800" bIns="50800" rIns="50800"/>
            <a:lstStyle/>
            <a:p>
              <a:pPr algn="ctr">
                <a:lnSpc>
                  <a:spcPts val="1960"/>
                </a:lnSpc>
              </a:pPr>
            </a:p>
          </p:txBody>
        </p:sp>
      </p:grpSp>
      <p:sp>
        <p:nvSpPr>
          <p:cNvPr name="TextBox 9" id="9"/>
          <p:cNvSpPr txBox="true"/>
          <p:nvPr/>
        </p:nvSpPr>
        <p:spPr>
          <a:xfrm rot="0">
            <a:off x="1980709" y="1673137"/>
            <a:ext cx="6716094" cy="1784983"/>
          </a:xfrm>
          <a:prstGeom prst="rect">
            <a:avLst/>
          </a:prstGeom>
        </p:spPr>
        <p:txBody>
          <a:bodyPr anchor="t" rtlCol="false" tIns="0" lIns="0" bIns="0" rIns="0">
            <a:spAutoFit/>
          </a:bodyPr>
          <a:lstStyle/>
          <a:p>
            <a:pPr algn="l">
              <a:lnSpc>
                <a:spcPts val="7019"/>
              </a:lnSpc>
            </a:pPr>
            <a:r>
              <a:rPr lang="en-US" sz="5999" spc="365">
                <a:solidFill>
                  <a:srgbClr val="3B3B3B"/>
                </a:solidFill>
                <a:latin typeface="Calistoga"/>
                <a:ea typeface="Calistoga"/>
                <a:cs typeface="Calistoga"/>
                <a:sym typeface="Calistoga"/>
              </a:rPr>
              <a:t>Setting, Mood and Imagery</a:t>
            </a:r>
          </a:p>
        </p:txBody>
      </p:sp>
      <p:sp>
        <p:nvSpPr>
          <p:cNvPr name="TextBox 10" id="10"/>
          <p:cNvSpPr txBox="true"/>
          <p:nvPr/>
        </p:nvSpPr>
        <p:spPr>
          <a:xfrm rot="0">
            <a:off x="1567052" y="4125447"/>
            <a:ext cx="7543409" cy="4751070"/>
          </a:xfrm>
          <a:prstGeom prst="rect">
            <a:avLst/>
          </a:prstGeom>
        </p:spPr>
        <p:txBody>
          <a:bodyPr anchor="t" rtlCol="false" tIns="0" lIns="0" bIns="0" rIns="0">
            <a:spAutoFit/>
          </a:bodyPr>
          <a:lstStyle/>
          <a:p>
            <a:pPr algn="l">
              <a:lnSpc>
                <a:spcPts val="3780"/>
              </a:lnSpc>
            </a:pPr>
            <a:r>
              <a:rPr lang="en-US" sz="2700">
                <a:solidFill>
                  <a:srgbClr val="000000"/>
                </a:solidFill>
                <a:latin typeface="Lato"/>
                <a:ea typeface="Lato"/>
                <a:cs typeface="Lato"/>
                <a:sym typeface="Lato"/>
              </a:rPr>
              <a:t>Write a short passage describing a classroom setting aiming to convey a clear mood or atmosphere through word choice and sensory imagery. Then, repeat the exercise describing the same classroom but conveying a different mood.</a:t>
            </a:r>
          </a:p>
          <a:p>
            <a:pPr algn="l">
              <a:lnSpc>
                <a:spcPts val="3780"/>
              </a:lnSpc>
            </a:pPr>
          </a:p>
          <a:p>
            <a:pPr algn="l">
              <a:lnSpc>
                <a:spcPts val="3780"/>
              </a:lnSpc>
            </a:pPr>
            <a:r>
              <a:rPr lang="en-US" sz="2700">
                <a:solidFill>
                  <a:srgbClr val="000000"/>
                </a:solidFill>
                <a:latin typeface="Lato"/>
                <a:ea typeface="Lato"/>
                <a:cs typeface="Lato"/>
                <a:sym typeface="Lato"/>
              </a:rPr>
              <a:t>Some suggestions include:</a:t>
            </a:r>
          </a:p>
          <a:p>
            <a:pPr algn="l" marL="582932" indent="-291466" lvl="1">
              <a:lnSpc>
                <a:spcPts val="3780"/>
              </a:lnSpc>
              <a:buFont typeface="Arial"/>
              <a:buChar char="•"/>
            </a:pPr>
            <a:r>
              <a:rPr lang="en-US" sz="2700">
                <a:solidFill>
                  <a:srgbClr val="000000"/>
                </a:solidFill>
                <a:latin typeface="Lato"/>
                <a:ea typeface="Lato"/>
                <a:cs typeface="Lato"/>
                <a:sym typeface="Lato"/>
              </a:rPr>
              <a:t>Excitement, energy, happiness</a:t>
            </a:r>
          </a:p>
          <a:p>
            <a:pPr algn="l" marL="582932" indent="-291466" lvl="1">
              <a:lnSpc>
                <a:spcPts val="3780"/>
              </a:lnSpc>
              <a:buFont typeface="Arial"/>
              <a:buChar char="•"/>
            </a:pPr>
            <a:r>
              <a:rPr lang="en-US" sz="2700">
                <a:solidFill>
                  <a:srgbClr val="000000"/>
                </a:solidFill>
                <a:latin typeface="Lato"/>
                <a:ea typeface="Lato"/>
                <a:cs typeface="Lato"/>
                <a:sym typeface="Lato"/>
              </a:rPr>
              <a:t>Drab, dull, boring</a:t>
            </a:r>
          </a:p>
          <a:p>
            <a:pPr algn="l" marL="582932" indent="-291466" lvl="1">
              <a:lnSpc>
                <a:spcPts val="3780"/>
              </a:lnSpc>
              <a:buFont typeface="Arial"/>
              <a:buChar char="•"/>
            </a:pPr>
            <a:r>
              <a:rPr lang="en-US" sz="2700">
                <a:solidFill>
                  <a:srgbClr val="000000"/>
                </a:solidFill>
                <a:latin typeface="Lato"/>
                <a:ea typeface="Lato"/>
                <a:cs typeface="Lato"/>
                <a:sym typeface="Lato"/>
              </a:rPr>
              <a:t>Anger, frustration</a:t>
            </a:r>
          </a:p>
        </p:txBody>
      </p:sp>
      <p:sp>
        <p:nvSpPr>
          <p:cNvPr name="Freeform 11" id="11"/>
          <p:cNvSpPr/>
          <p:nvPr/>
        </p:nvSpPr>
        <p:spPr>
          <a:xfrm flipH="false" flipV="false" rot="0">
            <a:off x="10166254" y="1410483"/>
            <a:ext cx="6554694" cy="7466035"/>
          </a:xfrm>
          <a:custGeom>
            <a:avLst/>
            <a:gdLst/>
            <a:ahLst/>
            <a:cxnLst/>
            <a:rect r="r" b="b" t="t" l="l"/>
            <a:pathLst>
              <a:path h="7466035" w="6554694">
                <a:moveTo>
                  <a:pt x="0" y="0"/>
                </a:moveTo>
                <a:lnTo>
                  <a:pt x="6554694" y="0"/>
                </a:lnTo>
                <a:lnTo>
                  <a:pt x="6554694" y="7466034"/>
                </a:lnTo>
                <a:lnTo>
                  <a:pt x="0" y="7466034"/>
                </a:lnTo>
                <a:lnTo>
                  <a:pt x="0" y="0"/>
                </a:lnTo>
                <a:close/>
              </a:path>
            </a:pathLst>
          </a:custGeom>
          <a:blipFill>
            <a:blip r:embed="rId3"/>
            <a:stretch>
              <a:fillRect l="-42857" t="0" r="-46981"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2816" y="632816"/>
            <a:ext cx="17022369" cy="9021369"/>
            <a:chOff x="0" y="0"/>
            <a:chExt cx="6100433" cy="3233055"/>
          </a:xfrm>
        </p:grpSpPr>
        <p:sp>
          <p:nvSpPr>
            <p:cNvPr name="Freeform 4" id="4"/>
            <p:cNvSpPr/>
            <p:nvPr/>
          </p:nvSpPr>
          <p:spPr>
            <a:xfrm flipH="false" flipV="false" rot="0">
              <a:off x="0" y="0"/>
              <a:ext cx="6100433" cy="3233055"/>
            </a:xfrm>
            <a:custGeom>
              <a:avLst/>
              <a:gdLst/>
              <a:ahLst/>
              <a:cxnLst/>
              <a:rect r="r" b="b" t="t" l="l"/>
              <a:pathLst>
                <a:path h="3233055" w="6100433">
                  <a:moveTo>
                    <a:pt x="6822" y="0"/>
                  </a:moveTo>
                  <a:lnTo>
                    <a:pt x="6093611" y="0"/>
                  </a:lnTo>
                  <a:cubicBezTo>
                    <a:pt x="6097378" y="0"/>
                    <a:pt x="6100433" y="3054"/>
                    <a:pt x="6100433" y="6822"/>
                  </a:cubicBezTo>
                  <a:lnTo>
                    <a:pt x="6100433" y="3226233"/>
                  </a:lnTo>
                  <a:cubicBezTo>
                    <a:pt x="6100433" y="3230001"/>
                    <a:pt x="6097378" y="3233055"/>
                    <a:pt x="6093611" y="3233055"/>
                  </a:cubicBezTo>
                  <a:lnTo>
                    <a:pt x="6822" y="3233055"/>
                  </a:lnTo>
                  <a:cubicBezTo>
                    <a:pt x="3054" y="3233055"/>
                    <a:pt x="0" y="3230001"/>
                    <a:pt x="0" y="3226233"/>
                  </a:cubicBezTo>
                  <a:lnTo>
                    <a:pt x="0" y="6822"/>
                  </a:lnTo>
                  <a:cubicBezTo>
                    <a:pt x="0" y="3054"/>
                    <a:pt x="3054" y="0"/>
                    <a:pt x="6822" y="0"/>
                  </a:cubicBezTo>
                  <a:close/>
                </a:path>
              </a:pathLst>
            </a:custGeom>
            <a:ln w="38100" cap="sq">
              <a:solidFill>
                <a:srgbClr val="3B3B3B"/>
              </a:solidFill>
              <a:prstDash val="solid"/>
              <a:miter/>
            </a:ln>
          </p:spPr>
        </p:sp>
        <p:sp>
          <p:nvSpPr>
            <p:cNvPr name="TextBox 5" id="5"/>
            <p:cNvSpPr txBox="true"/>
            <p:nvPr/>
          </p:nvSpPr>
          <p:spPr>
            <a:xfrm>
              <a:off x="0" y="-28575"/>
              <a:ext cx="6100433" cy="3261630"/>
            </a:xfrm>
            <a:prstGeom prst="rect">
              <a:avLst/>
            </a:prstGeom>
          </p:spPr>
          <p:txBody>
            <a:bodyPr anchor="ctr" rtlCol="false" tIns="50800" lIns="50800" bIns="50800" rIns="50800"/>
            <a:lstStyle/>
            <a:p>
              <a:pPr algn="ctr">
                <a:lnSpc>
                  <a:spcPts val="1960"/>
                </a:lnSpc>
              </a:pPr>
            </a:p>
          </p:txBody>
        </p:sp>
      </p:grpSp>
      <p:sp>
        <p:nvSpPr>
          <p:cNvPr name="Freeform 6" id="6"/>
          <p:cNvSpPr/>
          <p:nvPr/>
        </p:nvSpPr>
        <p:spPr>
          <a:xfrm flipH="false" flipV="false" rot="3755323">
            <a:off x="13803310" y="7211198"/>
            <a:ext cx="8571881" cy="4885972"/>
          </a:xfrm>
          <a:custGeom>
            <a:avLst/>
            <a:gdLst/>
            <a:ahLst/>
            <a:cxnLst/>
            <a:rect r="r" b="b" t="t" l="l"/>
            <a:pathLst>
              <a:path h="4885972" w="8571881">
                <a:moveTo>
                  <a:pt x="0" y="0"/>
                </a:moveTo>
                <a:lnTo>
                  <a:pt x="8571880" y="0"/>
                </a:lnTo>
                <a:lnTo>
                  <a:pt x="8571880" y="4885972"/>
                </a:lnTo>
                <a:lnTo>
                  <a:pt x="0" y="4885972"/>
                </a:lnTo>
                <a:lnTo>
                  <a:pt x="0" y="0"/>
                </a:lnTo>
                <a:close/>
              </a:path>
            </a:pathLst>
          </a:custGeom>
          <a:blipFill>
            <a:blip r:embed="rId3"/>
            <a:stretch>
              <a:fillRect l="0" t="0" r="0" b="0"/>
            </a:stretch>
          </a:blipFill>
        </p:spPr>
      </p:sp>
      <p:sp>
        <p:nvSpPr>
          <p:cNvPr name="Freeform 7" id="7"/>
          <p:cNvSpPr/>
          <p:nvPr/>
        </p:nvSpPr>
        <p:spPr>
          <a:xfrm flipH="false" flipV="false" rot="-1859289">
            <a:off x="12767773" y="-3685608"/>
            <a:ext cx="12273513" cy="8014203"/>
          </a:xfrm>
          <a:custGeom>
            <a:avLst/>
            <a:gdLst/>
            <a:ahLst/>
            <a:cxnLst/>
            <a:rect r="r" b="b" t="t" l="l"/>
            <a:pathLst>
              <a:path h="8014203" w="12273513">
                <a:moveTo>
                  <a:pt x="0" y="0"/>
                </a:moveTo>
                <a:lnTo>
                  <a:pt x="12273513" y="0"/>
                </a:lnTo>
                <a:lnTo>
                  <a:pt x="12273513" y="8014203"/>
                </a:lnTo>
                <a:lnTo>
                  <a:pt x="0" y="8014203"/>
                </a:lnTo>
                <a:lnTo>
                  <a:pt x="0" y="0"/>
                </a:lnTo>
                <a:close/>
              </a:path>
            </a:pathLst>
          </a:custGeom>
          <a:blipFill>
            <a:blip r:embed="rId4"/>
            <a:stretch>
              <a:fillRect l="0" t="-23893" r="-129498" b="0"/>
            </a:stretch>
          </a:blipFill>
        </p:spPr>
      </p:sp>
      <p:sp>
        <p:nvSpPr>
          <p:cNvPr name="Freeform 8" id="8"/>
          <p:cNvSpPr/>
          <p:nvPr/>
        </p:nvSpPr>
        <p:spPr>
          <a:xfrm flipH="false" flipV="false" rot="1440237">
            <a:off x="-2158968" y="4450770"/>
            <a:ext cx="5583567" cy="5668596"/>
          </a:xfrm>
          <a:custGeom>
            <a:avLst/>
            <a:gdLst/>
            <a:ahLst/>
            <a:cxnLst/>
            <a:rect r="r" b="b" t="t" l="l"/>
            <a:pathLst>
              <a:path h="5668596" w="5583567">
                <a:moveTo>
                  <a:pt x="0" y="0"/>
                </a:moveTo>
                <a:lnTo>
                  <a:pt x="5583567" y="0"/>
                </a:lnTo>
                <a:lnTo>
                  <a:pt x="5583567" y="5668597"/>
                </a:lnTo>
                <a:lnTo>
                  <a:pt x="0" y="5668597"/>
                </a:lnTo>
                <a:lnTo>
                  <a:pt x="0" y="0"/>
                </a:lnTo>
                <a:close/>
              </a:path>
            </a:pathLst>
          </a:custGeom>
          <a:blipFill>
            <a:blip r:embed="rId5"/>
            <a:stretch>
              <a:fillRect l="0" t="0" r="0" b="0"/>
            </a:stretch>
          </a:blipFill>
        </p:spPr>
      </p:sp>
      <p:sp>
        <p:nvSpPr>
          <p:cNvPr name="Freeform 9" id="9"/>
          <p:cNvSpPr/>
          <p:nvPr/>
        </p:nvSpPr>
        <p:spPr>
          <a:xfrm flipH="false" flipV="false" rot="-6505092">
            <a:off x="-2552358" y="-1605844"/>
            <a:ext cx="8216901" cy="5269088"/>
          </a:xfrm>
          <a:custGeom>
            <a:avLst/>
            <a:gdLst/>
            <a:ahLst/>
            <a:cxnLst/>
            <a:rect r="r" b="b" t="t" l="l"/>
            <a:pathLst>
              <a:path h="5269088" w="8216901">
                <a:moveTo>
                  <a:pt x="0" y="0"/>
                </a:moveTo>
                <a:lnTo>
                  <a:pt x="8216901" y="0"/>
                </a:lnTo>
                <a:lnTo>
                  <a:pt x="8216901" y="5269088"/>
                </a:lnTo>
                <a:lnTo>
                  <a:pt x="0" y="5269088"/>
                </a:lnTo>
                <a:lnTo>
                  <a:pt x="0" y="0"/>
                </a:lnTo>
                <a:close/>
              </a:path>
            </a:pathLst>
          </a:custGeom>
          <a:blipFill>
            <a:blip r:embed="rId6"/>
            <a:stretch>
              <a:fillRect l="0" t="0" r="0" b="0"/>
            </a:stretch>
          </a:blipFill>
        </p:spPr>
      </p:sp>
      <p:sp>
        <p:nvSpPr>
          <p:cNvPr name="Freeform 10" id="10"/>
          <p:cNvSpPr/>
          <p:nvPr/>
        </p:nvSpPr>
        <p:spPr>
          <a:xfrm flipH="false" flipV="false" rot="-2221901">
            <a:off x="1956186" y="-10817696"/>
            <a:ext cx="9687153" cy="12746254"/>
          </a:xfrm>
          <a:custGeom>
            <a:avLst/>
            <a:gdLst/>
            <a:ahLst/>
            <a:cxnLst/>
            <a:rect r="r" b="b" t="t" l="l"/>
            <a:pathLst>
              <a:path h="12746254" w="9687153">
                <a:moveTo>
                  <a:pt x="0" y="0"/>
                </a:moveTo>
                <a:lnTo>
                  <a:pt x="9687153" y="0"/>
                </a:lnTo>
                <a:lnTo>
                  <a:pt x="9687153" y="12746255"/>
                </a:lnTo>
                <a:lnTo>
                  <a:pt x="0" y="12746255"/>
                </a:lnTo>
                <a:lnTo>
                  <a:pt x="0" y="0"/>
                </a:lnTo>
                <a:close/>
              </a:path>
            </a:pathLst>
          </a:custGeom>
          <a:blipFill>
            <a:blip r:embed="rId7"/>
            <a:stretch>
              <a:fillRect l="0" t="0" r="0" b="0"/>
            </a:stretch>
          </a:blipFill>
        </p:spPr>
      </p:sp>
      <p:sp>
        <p:nvSpPr>
          <p:cNvPr name="Freeform 11" id="11"/>
          <p:cNvSpPr/>
          <p:nvPr/>
        </p:nvSpPr>
        <p:spPr>
          <a:xfrm flipH="false" flipV="false" rot="4661547">
            <a:off x="5821257" y="6920548"/>
            <a:ext cx="3013834" cy="5467273"/>
          </a:xfrm>
          <a:custGeom>
            <a:avLst/>
            <a:gdLst/>
            <a:ahLst/>
            <a:cxnLst/>
            <a:rect r="r" b="b" t="t" l="l"/>
            <a:pathLst>
              <a:path h="5467273" w="3013834">
                <a:moveTo>
                  <a:pt x="0" y="0"/>
                </a:moveTo>
                <a:lnTo>
                  <a:pt x="3013834" y="0"/>
                </a:lnTo>
                <a:lnTo>
                  <a:pt x="3013834" y="5467273"/>
                </a:lnTo>
                <a:lnTo>
                  <a:pt x="0" y="5467273"/>
                </a:lnTo>
                <a:lnTo>
                  <a:pt x="0" y="0"/>
                </a:lnTo>
                <a:close/>
              </a:path>
            </a:pathLst>
          </a:custGeom>
          <a:blipFill>
            <a:blip r:embed="rId8"/>
            <a:stretch>
              <a:fillRect l="0" t="0" r="0" b="0"/>
            </a:stretch>
          </a:blipFill>
        </p:spPr>
      </p:sp>
      <p:sp>
        <p:nvSpPr>
          <p:cNvPr name="Freeform 12" id="12"/>
          <p:cNvSpPr/>
          <p:nvPr/>
        </p:nvSpPr>
        <p:spPr>
          <a:xfrm flipH="false" flipV="false" rot="2189920">
            <a:off x="10699731" y="9462091"/>
            <a:ext cx="5583567" cy="5668596"/>
          </a:xfrm>
          <a:custGeom>
            <a:avLst/>
            <a:gdLst/>
            <a:ahLst/>
            <a:cxnLst/>
            <a:rect r="r" b="b" t="t" l="l"/>
            <a:pathLst>
              <a:path h="5668596" w="5583567">
                <a:moveTo>
                  <a:pt x="0" y="0"/>
                </a:moveTo>
                <a:lnTo>
                  <a:pt x="5583568" y="0"/>
                </a:lnTo>
                <a:lnTo>
                  <a:pt x="5583568" y="5668596"/>
                </a:lnTo>
                <a:lnTo>
                  <a:pt x="0" y="5668596"/>
                </a:lnTo>
                <a:lnTo>
                  <a:pt x="0" y="0"/>
                </a:lnTo>
                <a:close/>
              </a:path>
            </a:pathLst>
          </a:custGeom>
          <a:blipFill>
            <a:blip r:embed="rId5"/>
            <a:stretch>
              <a:fillRect l="0" t="0" r="0" b="0"/>
            </a:stretch>
          </a:blipFill>
        </p:spPr>
      </p:sp>
      <p:grpSp>
        <p:nvGrpSpPr>
          <p:cNvPr name="Group 13" id="13"/>
          <p:cNvGrpSpPr/>
          <p:nvPr/>
        </p:nvGrpSpPr>
        <p:grpSpPr>
          <a:xfrm rot="0">
            <a:off x="4893037" y="5487978"/>
            <a:ext cx="8501926" cy="1350544"/>
            <a:chOff x="0" y="0"/>
            <a:chExt cx="2402139" cy="381584"/>
          </a:xfrm>
        </p:grpSpPr>
        <p:sp>
          <p:nvSpPr>
            <p:cNvPr name="Freeform 14" id="14"/>
            <p:cNvSpPr/>
            <p:nvPr/>
          </p:nvSpPr>
          <p:spPr>
            <a:xfrm flipH="false" flipV="false" rot="0">
              <a:off x="0" y="0"/>
              <a:ext cx="2402139" cy="381584"/>
            </a:xfrm>
            <a:custGeom>
              <a:avLst/>
              <a:gdLst/>
              <a:ahLst/>
              <a:cxnLst/>
              <a:rect r="r" b="b" t="t" l="l"/>
              <a:pathLst>
                <a:path h="381584" w="2402139">
                  <a:moveTo>
                    <a:pt x="46441" y="0"/>
                  </a:moveTo>
                  <a:lnTo>
                    <a:pt x="2355698" y="0"/>
                  </a:lnTo>
                  <a:cubicBezTo>
                    <a:pt x="2368015" y="0"/>
                    <a:pt x="2379827" y="4893"/>
                    <a:pt x="2388537" y="13602"/>
                  </a:cubicBezTo>
                  <a:cubicBezTo>
                    <a:pt x="2397246" y="22312"/>
                    <a:pt x="2402139" y="34124"/>
                    <a:pt x="2402139" y="46441"/>
                  </a:cubicBezTo>
                  <a:lnTo>
                    <a:pt x="2402139" y="335143"/>
                  </a:lnTo>
                  <a:cubicBezTo>
                    <a:pt x="2402139" y="360791"/>
                    <a:pt x="2381347" y="381584"/>
                    <a:pt x="2355698" y="381584"/>
                  </a:cubicBezTo>
                  <a:lnTo>
                    <a:pt x="46441" y="381584"/>
                  </a:lnTo>
                  <a:cubicBezTo>
                    <a:pt x="34124" y="381584"/>
                    <a:pt x="22312" y="376691"/>
                    <a:pt x="13602" y="367981"/>
                  </a:cubicBezTo>
                  <a:cubicBezTo>
                    <a:pt x="4893" y="359272"/>
                    <a:pt x="0" y="347459"/>
                    <a:pt x="0" y="335143"/>
                  </a:cubicBezTo>
                  <a:lnTo>
                    <a:pt x="0" y="46441"/>
                  </a:lnTo>
                  <a:cubicBezTo>
                    <a:pt x="0" y="34124"/>
                    <a:pt x="4893" y="22312"/>
                    <a:pt x="13602" y="13602"/>
                  </a:cubicBezTo>
                  <a:cubicBezTo>
                    <a:pt x="22312" y="4893"/>
                    <a:pt x="34124" y="0"/>
                    <a:pt x="46441" y="0"/>
                  </a:cubicBezTo>
                  <a:close/>
                </a:path>
              </a:pathLst>
            </a:custGeom>
            <a:ln w="38100" cap="rnd">
              <a:solidFill>
                <a:srgbClr val="000000"/>
              </a:solidFill>
              <a:prstDash val="solid"/>
              <a:round/>
            </a:ln>
          </p:spPr>
        </p:sp>
        <p:sp>
          <p:nvSpPr>
            <p:cNvPr name="TextBox 15" id="15"/>
            <p:cNvSpPr txBox="true"/>
            <p:nvPr/>
          </p:nvSpPr>
          <p:spPr>
            <a:xfrm>
              <a:off x="0" y="-28575"/>
              <a:ext cx="2402139" cy="410159"/>
            </a:xfrm>
            <a:prstGeom prst="rect">
              <a:avLst/>
            </a:prstGeom>
          </p:spPr>
          <p:txBody>
            <a:bodyPr anchor="ctr" rtlCol="false" tIns="50800" lIns="50800" bIns="50800" rIns="50800"/>
            <a:lstStyle/>
            <a:p>
              <a:pPr algn="ctr">
                <a:lnSpc>
                  <a:spcPts val="1960"/>
                </a:lnSpc>
              </a:pPr>
            </a:p>
          </p:txBody>
        </p:sp>
      </p:grpSp>
      <p:sp>
        <p:nvSpPr>
          <p:cNvPr name="TextBox 16" id="16"/>
          <p:cNvSpPr txBox="true"/>
          <p:nvPr/>
        </p:nvSpPr>
        <p:spPr>
          <a:xfrm rot="0">
            <a:off x="4893037" y="3477052"/>
            <a:ext cx="8501926" cy="1642110"/>
          </a:xfrm>
          <a:prstGeom prst="rect">
            <a:avLst/>
          </a:prstGeom>
        </p:spPr>
        <p:txBody>
          <a:bodyPr anchor="t" rtlCol="false" tIns="0" lIns="0" bIns="0" rIns="0">
            <a:spAutoFit/>
          </a:bodyPr>
          <a:lstStyle/>
          <a:p>
            <a:pPr algn="ctr">
              <a:lnSpc>
                <a:spcPts val="12870"/>
              </a:lnSpc>
            </a:pPr>
            <a:r>
              <a:rPr lang="en-US" sz="11000" spc="429">
                <a:solidFill>
                  <a:srgbClr val="3B3B3B"/>
                </a:solidFill>
                <a:latin typeface="Calistoga"/>
                <a:ea typeface="Calistoga"/>
                <a:cs typeface="Calistoga"/>
                <a:sym typeface="Calistoga"/>
              </a:rPr>
              <a:t>The End</a:t>
            </a:r>
          </a:p>
        </p:txBody>
      </p:sp>
      <p:sp>
        <p:nvSpPr>
          <p:cNvPr name="TextBox 17" id="17"/>
          <p:cNvSpPr txBox="true"/>
          <p:nvPr/>
        </p:nvSpPr>
        <p:spPr>
          <a:xfrm rot="0">
            <a:off x="5063212" y="5722808"/>
            <a:ext cx="8161576" cy="837517"/>
          </a:xfrm>
          <a:prstGeom prst="rect">
            <a:avLst/>
          </a:prstGeom>
        </p:spPr>
        <p:txBody>
          <a:bodyPr anchor="t" rtlCol="false" tIns="0" lIns="0" bIns="0" rIns="0">
            <a:spAutoFit/>
          </a:bodyPr>
          <a:lstStyle/>
          <a:p>
            <a:pPr algn="ctr">
              <a:lnSpc>
                <a:spcPts val="6543"/>
              </a:lnSpc>
            </a:pPr>
            <a:r>
              <a:rPr lang="en-US" sz="5592" spc="341">
                <a:solidFill>
                  <a:srgbClr val="3B3B3B"/>
                </a:solidFill>
                <a:latin typeface="Lato"/>
                <a:ea typeface="Lato"/>
                <a:cs typeface="Lato"/>
                <a:sym typeface="Lato"/>
              </a:rPr>
              <a:t>happy writing!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DAHWs7Qyc64</dc:identifier>
  <dcterms:modified xsi:type="dcterms:W3CDTF">2011-08-01T06:04:30Z</dcterms:modified>
  <cp:revision>1</cp:revision>
  <dc:title>Creative Writing Skills and Prompts Educational Presentation in Simple Minimalist Style</dc:title>
</cp:coreProperties>
</file>