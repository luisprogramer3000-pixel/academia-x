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opperplate Gothic 29 BC Bold" charset="1" panose="020E0604020206020404"/>
      <p:regular r:id="rId18"/>
    </p:embeddedFont>
    <p:embeddedFont>
      <p:font typeface="Copperplate Gothic 29 AB Bold" charset="1" panose="020E0604020206020404"/>
      <p:regular r:id="rId19"/>
    </p:embeddedFont>
    <p:embeddedFont>
      <p:font typeface="Copperplate Gothic 29 AB" charset="1" panose="020E0504020206020404"/>
      <p:regular r:id="rId20"/>
    </p:embeddedFont>
    <p:embeddedFont>
      <p:font typeface="Futura" charset="1" panose="020B0502020204020303"/>
      <p:regular r:id="rId21"/>
    </p:embeddedFont>
    <p:embeddedFont>
      <p:font typeface="Futura Italics" charset="1" panose="020B05020202040903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2.pn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D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319203">
            <a:off x="2780395" y="1750584"/>
            <a:ext cx="21499016" cy="11931954"/>
          </a:xfrm>
          <a:custGeom>
            <a:avLst/>
            <a:gdLst/>
            <a:ahLst/>
            <a:cxnLst/>
            <a:rect r="r" b="b" t="t" l="l"/>
            <a:pathLst>
              <a:path h="11931954" w="21499016">
                <a:moveTo>
                  <a:pt x="0" y="0"/>
                </a:moveTo>
                <a:lnTo>
                  <a:pt x="21499017" y="0"/>
                </a:lnTo>
                <a:lnTo>
                  <a:pt x="21499017" y="11931953"/>
                </a:lnTo>
                <a:lnTo>
                  <a:pt x="0" y="119319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1858215" y="1296869"/>
            <a:ext cx="3827987" cy="4138364"/>
          </a:xfrm>
          <a:custGeom>
            <a:avLst/>
            <a:gdLst/>
            <a:ahLst/>
            <a:cxnLst/>
            <a:rect r="r" b="b" t="t" l="l"/>
            <a:pathLst>
              <a:path h="4138364" w="3827987">
                <a:moveTo>
                  <a:pt x="3827987" y="0"/>
                </a:moveTo>
                <a:lnTo>
                  <a:pt x="0" y="0"/>
                </a:lnTo>
                <a:lnTo>
                  <a:pt x="0" y="4138364"/>
                </a:lnTo>
                <a:lnTo>
                  <a:pt x="3827987" y="4138364"/>
                </a:lnTo>
                <a:lnTo>
                  <a:pt x="382798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928569" y="4709477"/>
            <a:ext cx="4167994" cy="4457747"/>
          </a:xfrm>
          <a:custGeom>
            <a:avLst/>
            <a:gdLst/>
            <a:ahLst/>
            <a:cxnLst/>
            <a:rect r="r" b="b" t="t" l="l"/>
            <a:pathLst>
              <a:path h="4457747" w="4167994">
                <a:moveTo>
                  <a:pt x="0" y="0"/>
                </a:moveTo>
                <a:lnTo>
                  <a:pt x="4167994" y="0"/>
                </a:lnTo>
                <a:lnTo>
                  <a:pt x="4167994" y="4457748"/>
                </a:lnTo>
                <a:lnTo>
                  <a:pt x="0" y="44577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521875" y="1028700"/>
            <a:ext cx="7996004" cy="7466269"/>
          </a:xfrm>
          <a:custGeom>
            <a:avLst/>
            <a:gdLst/>
            <a:ahLst/>
            <a:cxnLst/>
            <a:rect r="r" b="b" t="t" l="l"/>
            <a:pathLst>
              <a:path h="7466269" w="7996004">
                <a:moveTo>
                  <a:pt x="7996004" y="0"/>
                </a:moveTo>
                <a:lnTo>
                  <a:pt x="0" y="0"/>
                </a:lnTo>
                <a:lnTo>
                  <a:pt x="0" y="7466269"/>
                </a:lnTo>
                <a:lnTo>
                  <a:pt x="7996004" y="7466269"/>
                </a:lnTo>
                <a:lnTo>
                  <a:pt x="7996004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215515" y="1826387"/>
            <a:ext cx="2628778" cy="196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Copperplate Gothic 29 BC Bold"/>
                <a:ea typeface="Copperplate Gothic 29 BC Bold"/>
                <a:cs typeface="Copperplate Gothic 29 BC Bold"/>
                <a:sym typeface="Copperplate Gothic 29 BC Bold"/>
              </a:rPr>
              <a:t>Review &amp; Practice Questions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92201" y="1039694"/>
            <a:ext cx="5798599" cy="479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05"/>
              </a:lnSpc>
            </a:pPr>
            <a:r>
              <a:rPr lang="en-US" sz="6646">
                <a:solidFill>
                  <a:srgbClr val="000000"/>
                </a:solidFill>
                <a:latin typeface="Copperplate Gothic 29 AB Bold"/>
                <a:ea typeface="Copperplate Gothic 29 AB Bold"/>
                <a:cs typeface="Copperplate Gothic 29 AB Bold"/>
                <a:sym typeface="Copperplate Gothic 29 AB Bold"/>
              </a:rPr>
              <a:t>Past Continuous </a:t>
            </a:r>
          </a:p>
          <a:p>
            <a:pPr algn="ctr">
              <a:lnSpc>
                <a:spcPts val="9305"/>
              </a:lnSpc>
            </a:pPr>
            <a:r>
              <a:rPr lang="en-US" sz="6646">
                <a:solidFill>
                  <a:srgbClr val="000000"/>
                </a:solidFill>
                <a:latin typeface="Copperplate Gothic 29 AB Bold"/>
                <a:ea typeface="Copperplate Gothic 29 AB Bold"/>
                <a:cs typeface="Copperplate Gothic 29 AB Bold"/>
                <a:sym typeface="Copperplate Gothic 29 AB Bold"/>
              </a:rPr>
              <a:t>vs. </a:t>
            </a:r>
          </a:p>
          <a:p>
            <a:pPr algn="ctr">
              <a:lnSpc>
                <a:spcPts val="9305"/>
              </a:lnSpc>
            </a:pPr>
            <a:r>
              <a:rPr lang="en-US" sz="6646">
                <a:solidFill>
                  <a:srgbClr val="000000"/>
                </a:solidFill>
                <a:latin typeface="Copperplate Gothic 29 AB Bold"/>
                <a:ea typeface="Copperplate Gothic 29 AB Bold"/>
                <a:cs typeface="Copperplate Gothic 29 AB Bold"/>
                <a:sym typeface="Copperplate Gothic 29 AB Bold"/>
              </a:rPr>
              <a:t>Past Simple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93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319203">
            <a:off x="2660834" y="1750584"/>
            <a:ext cx="21499016" cy="11931954"/>
          </a:xfrm>
          <a:custGeom>
            <a:avLst/>
            <a:gdLst/>
            <a:ahLst/>
            <a:cxnLst/>
            <a:rect r="r" b="b" t="t" l="l"/>
            <a:pathLst>
              <a:path h="11931954" w="21499016">
                <a:moveTo>
                  <a:pt x="0" y="0"/>
                </a:moveTo>
                <a:lnTo>
                  <a:pt x="21499016" y="0"/>
                </a:lnTo>
                <a:lnTo>
                  <a:pt x="21499016" y="11931953"/>
                </a:lnTo>
                <a:lnTo>
                  <a:pt x="0" y="119319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521875" y="1028700"/>
            <a:ext cx="7996004" cy="7466269"/>
          </a:xfrm>
          <a:custGeom>
            <a:avLst/>
            <a:gdLst/>
            <a:ahLst/>
            <a:cxnLst/>
            <a:rect r="r" b="b" t="t" l="l"/>
            <a:pathLst>
              <a:path h="7466269" w="7996004">
                <a:moveTo>
                  <a:pt x="7996004" y="0"/>
                </a:moveTo>
                <a:lnTo>
                  <a:pt x="0" y="0"/>
                </a:lnTo>
                <a:lnTo>
                  <a:pt x="0" y="7466269"/>
                </a:lnTo>
                <a:lnTo>
                  <a:pt x="7996004" y="7466269"/>
                </a:lnTo>
                <a:lnTo>
                  <a:pt x="799600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34922" y="3526436"/>
            <a:ext cx="4771777" cy="5731864"/>
          </a:xfrm>
          <a:custGeom>
            <a:avLst/>
            <a:gdLst/>
            <a:ahLst/>
            <a:cxnLst/>
            <a:rect r="r" b="b" t="t" l="l"/>
            <a:pathLst>
              <a:path h="5731864" w="4771777">
                <a:moveTo>
                  <a:pt x="0" y="0"/>
                </a:moveTo>
                <a:lnTo>
                  <a:pt x="4771776" y="0"/>
                </a:lnTo>
                <a:lnTo>
                  <a:pt x="4771776" y="5731864"/>
                </a:lnTo>
                <a:lnTo>
                  <a:pt x="0" y="57318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15999" y="2124770"/>
            <a:ext cx="5407756" cy="2949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Copperplate Gothic 29 AB Bold"/>
                <a:ea typeface="Copperplate Gothic 29 AB Bold"/>
                <a:cs typeface="Copperplate Gothic 29 AB Bold"/>
                <a:sym typeface="Copperplate Gothic 29 AB Bold"/>
              </a:rPr>
              <a:t>Let's Review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0220928" y="1457254"/>
            <a:ext cx="3409778" cy="3686246"/>
          </a:xfrm>
          <a:custGeom>
            <a:avLst/>
            <a:gdLst/>
            <a:ahLst/>
            <a:cxnLst/>
            <a:rect r="r" b="b" t="t" l="l"/>
            <a:pathLst>
              <a:path h="3686246" w="3409778">
                <a:moveTo>
                  <a:pt x="3409778" y="0"/>
                </a:moveTo>
                <a:lnTo>
                  <a:pt x="0" y="0"/>
                </a:lnTo>
                <a:lnTo>
                  <a:pt x="0" y="3686246"/>
                </a:lnTo>
                <a:lnTo>
                  <a:pt x="3409778" y="3686246"/>
                </a:lnTo>
                <a:lnTo>
                  <a:pt x="3409778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611428" y="1790760"/>
            <a:ext cx="2628778" cy="196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Copperplate Gothic 29 BC Bold"/>
                <a:ea typeface="Copperplate Gothic 29 BC Bold"/>
                <a:cs typeface="Copperplate Gothic 29 BC Bold"/>
                <a:sym typeface="Copperplate Gothic 29 BC Bold"/>
              </a:rPr>
              <a:t>What do I need to remember?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32813" y="1028700"/>
            <a:ext cx="6626487" cy="8096041"/>
            <a:chOff x="0" y="0"/>
            <a:chExt cx="1745248" cy="21322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45248" cy="2132291"/>
            </a:xfrm>
            <a:custGeom>
              <a:avLst/>
              <a:gdLst/>
              <a:ahLst/>
              <a:cxnLst/>
              <a:rect r="r" b="b" t="t" l="l"/>
              <a:pathLst>
                <a:path h="2132291" w="1745248">
                  <a:moveTo>
                    <a:pt x="0" y="0"/>
                  </a:moveTo>
                  <a:lnTo>
                    <a:pt x="1745248" y="0"/>
                  </a:lnTo>
                  <a:lnTo>
                    <a:pt x="1745248" y="2132291"/>
                  </a:lnTo>
                  <a:lnTo>
                    <a:pt x="0" y="2132291"/>
                  </a:lnTo>
                  <a:close/>
                </a:path>
              </a:pathLst>
            </a:custGeom>
            <a:solidFill>
              <a:srgbClr val="7C93C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1745248" cy="2208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635589" y="1726247"/>
            <a:ext cx="4620935" cy="7220211"/>
          </a:xfrm>
          <a:custGeom>
            <a:avLst/>
            <a:gdLst/>
            <a:ahLst/>
            <a:cxnLst/>
            <a:rect r="r" b="b" t="t" l="l"/>
            <a:pathLst>
              <a:path h="7220211" w="4620935">
                <a:moveTo>
                  <a:pt x="0" y="0"/>
                </a:moveTo>
                <a:lnTo>
                  <a:pt x="4620935" y="0"/>
                </a:lnTo>
                <a:lnTo>
                  <a:pt x="4620935" y="7220211"/>
                </a:lnTo>
                <a:lnTo>
                  <a:pt x="0" y="72202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91049"/>
            <a:ext cx="8661053" cy="1530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Copperplate Gothic 29 AB"/>
                <a:ea typeface="Copperplate Gothic 29 AB"/>
                <a:cs typeface="Copperplate Gothic 29 AB"/>
                <a:sym typeface="Copperplate Gothic 29 AB"/>
              </a:rPr>
              <a:t>Past Continuous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288988"/>
            <a:ext cx="8661053" cy="304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opperplate Gothic 29 AB"/>
                <a:ea typeface="Copperplate Gothic 29 AB"/>
                <a:cs typeface="Copperplate Gothic 29 AB"/>
                <a:sym typeface="Copperplate Gothic 29 AB"/>
              </a:rPr>
              <a:t>We use the past continuous to talk about events or situations that continued for a certain amount of time in the past or happened during a specific time.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853111"/>
            <a:ext cx="8661053" cy="124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opperplate Gothic 29 AB"/>
                <a:ea typeface="Copperplate Gothic 29 AB"/>
                <a:cs typeface="Copperplate Gothic 29 AB"/>
                <a:sym typeface="Copperplate Gothic 29 AB"/>
              </a:rPr>
              <a:t>We form the past continuous using the past of be and add -ing to the verb.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348354"/>
            <a:ext cx="8661053" cy="124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opperplate Gothic 29 AB Bold"/>
                <a:ea typeface="Copperplate Gothic 29 AB Bold"/>
                <a:cs typeface="Copperplate Gothic 29 AB Bold"/>
                <a:sym typeface="Copperplate Gothic 29 AB Bold"/>
              </a:rPr>
              <a:t>Example: It was raining while I was walking home last night.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32813" y="1028700"/>
            <a:ext cx="6626487" cy="8096041"/>
            <a:chOff x="0" y="0"/>
            <a:chExt cx="1745248" cy="21322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45248" cy="2132291"/>
            </a:xfrm>
            <a:custGeom>
              <a:avLst/>
              <a:gdLst/>
              <a:ahLst/>
              <a:cxnLst/>
              <a:rect r="r" b="b" t="t" l="l"/>
              <a:pathLst>
                <a:path h="2132291" w="1745248">
                  <a:moveTo>
                    <a:pt x="0" y="0"/>
                  </a:moveTo>
                  <a:lnTo>
                    <a:pt x="1745248" y="0"/>
                  </a:lnTo>
                  <a:lnTo>
                    <a:pt x="1745248" y="2132291"/>
                  </a:lnTo>
                  <a:lnTo>
                    <a:pt x="0" y="2132291"/>
                  </a:lnTo>
                  <a:close/>
                </a:path>
              </a:pathLst>
            </a:custGeom>
            <a:solidFill>
              <a:srgbClr val="CED6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1745248" cy="2208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997608" y="1897097"/>
            <a:ext cx="5896896" cy="5971540"/>
          </a:xfrm>
          <a:custGeom>
            <a:avLst/>
            <a:gdLst/>
            <a:ahLst/>
            <a:cxnLst/>
            <a:rect r="r" b="b" t="t" l="l"/>
            <a:pathLst>
              <a:path h="5971540" w="5896896">
                <a:moveTo>
                  <a:pt x="0" y="0"/>
                </a:moveTo>
                <a:lnTo>
                  <a:pt x="5896896" y="0"/>
                </a:lnTo>
                <a:lnTo>
                  <a:pt x="5896896" y="5971540"/>
                </a:lnTo>
                <a:lnTo>
                  <a:pt x="0" y="5971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91049"/>
            <a:ext cx="8661053" cy="1530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Copperplate Gothic 29 AB"/>
                <a:ea typeface="Copperplate Gothic 29 AB"/>
                <a:cs typeface="Copperplate Gothic 29 AB"/>
                <a:sym typeface="Copperplate Gothic 29 AB"/>
              </a:rPr>
              <a:t>Past Simple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557643"/>
            <a:ext cx="8661053" cy="184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opperplate Gothic 29 AB"/>
                <a:ea typeface="Copperplate Gothic 29 AB"/>
                <a:cs typeface="Copperplate Gothic 29 AB"/>
                <a:sym typeface="Copperplate Gothic 29 AB"/>
              </a:rPr>
              <a:t>We use the past simple to talk about events, habits, or situations that happened at a specific time in the past.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010150"/>
            <a:ext cx="8661053" cy="124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opperplate Gothic 29 AB"/>
                <a:ea typeface="Copperplate Gothic 29 AB"/>
                <a:cs typeface="Copperplate Gothic 29 AB"/>
                <a:sym typeface="Copperplate Gothic 29 AB"/>
              </a:rPr>
              <a:t>We form the past simple for regular verbs by adding the suffix (ed).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866890"/>
            <a:ext cx="8661053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opperplate Gothic 29 AB Bold"/>
                <a:ea typeface="Copperplate Gothic 29 AB Bold"/>
                <a:cs typeface="Copperplate Gothic 29 AB Bold"/>
                <a:sym typeface="Copperplate Gothic 29 AB Bold"/>
              </a:rPr>
              <a:t>Example: It rained last night.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32813" y="1028700"/>
            <a:ext cx="6626487" cy="8096041"/>
            <a:chOff x="0" y="0"/>
            <a:chExt cx="1745248" cy="21322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45248" cy="2132291"/>
            </a:xfrm>
            <a:custGeom>
              <a:avLst/>
              <a:gdLst/>
              <a:ahLst/>
              <a:cxnLst/>
              <a:rect r="r" b="b" t="t" l="l"/>
              <a:pathLst>
                <a:path h="2132291" w="1745248">
                  <a:moveTo>
                    <a:pt x="0" y="0"/>
                  </a:moveTo>
                  <a:lnTo>
                    <a:pt x="1745248" y="0"/>
                  </a:lnTo>
                  <a:lnTo>
                    <a:pt x="1745248" y="2132291"/>
                  </a:lnTo>
                  <a:lnTo>
                    <a:pt x="0" y="2132291"/>
                  </a:lnTo>
                  <a:close/>
                </a:path>
              </a:pathLst>
            </a:custGeom>
            <a:solidFill>
              <a:srgbClr val="7C93C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1745248" cy="2208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632813" y="1743144"/>
            <a:ext cx="6532714" cy="7381597"/>
          </a:xfrm>
          <a:custGeom>
            <a:avLst/>
            <a:gdLst/>
            <a:ahLst/>
            <a:cxnLst/>
            <a:rect r="r" b="b" t="t" l="l"/>
            <a:pathLst>
              <a:path h="7381597" w="6532714">
                <a:moveTo>
                  <a:pt x="0" y="0"/>
                </a:moveTo>
                <a:lnTo>
                  <a:pt x="6532713" y="0"/>
                </a:lnTo>
                <a:lnTo>
                  <a:pt x="6532713" y="7381597"/>
                </a:lnTo>
                <a:lnTo>
                  <a:pt x="0" y="73815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91049"/>
            <a:ext cx="9076811" cy="2949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Copperplate Gothic 29 AB"/>
                <a:ea typeface="Copperplate Gothic 29 AB"/>
                <a:cs typeface="Copperplate Gothic 29 AB"/>
                <a:sym typeface="Copperplate Gothic 29 AB"/>
              </a:rPr>
              <a:t>Past Continuous &amp; Past Simple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216848"/>
            <a:ext cx="9076811" cy="184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opperplate Gothic 29 AB"/>
                <a:ea typeface="Copperplate Gothic 29 AB"/>
                <a:cs typeface="Copperplate Gothic 29 AB"/>
                <a:sym typeface="Copperplate Gothic 29 AB"/>
              </a:rPr>
              <a:t>In sentences, use </a:t>
            </a:r>
            <a:r>
              <a:rPr lang="en-US" sz="3399" i="true">
                <a:solidFill>
                  <a:srgbClr val="000000"/>
                </a:solidFill>
                <a:latin typeface="Copperplate Gothic 29 AB"/>
                <a:ea typeface="Copperplate Gothic 29 AB"/>
                <a:cs typeface="Copperplate Gothic 29 AB"/>
                <a:sym typeface="Copperplate Gothic 29 AB"/>
              </a:rPr>
              <a:t>when</a:t>
            </a:r>
            <a:r>
              <a:rPr lang="en-US" sz="3399">
                <a:solidFill>
                  <a:srgbClr val="000000"/>
                </a:solidFill>
                <a:latin typeface="Copperplate Gothic 29 AB"/>
                <a:ea typeface="Copperplate Gothic 29 AB"/>
                <a:cs typeface="Copperplate Gothic 29 AB"/>
                <a:sym typeface="Copperplate Gothic 29 AB"/>
              </a:rPr>
              <a:t> to combine the continuing action in the past with the completed one.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399292"/>
            <a:ext cx="9076811" cy="124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opperplate Gothic 29 AB Bold"/>
                <a:ea typeface="Copperplate Gothic 29 AB Bold"/>
                <a:cs typeface="Copperplate Gothic 29 AB Bold"/>
                <a:sym typeface="Copperplate Gothic 29 AB Bold"/>
              </a:rPr>
              <a:t>Example: We </a:t>
            </a:r>
            <a:r>
              <a:rPr lang="en-US" sz="3399" i="true">
                <a:solidFill>
                  <a:srgbClr val="000000"/>
                </a:solidFill>
                <a:latin typeface="Copperplate Gothic 29 AB Bold"/>
                <a:ea typeface="Copperplate Gothic 29 AB Bold"/>
                <a:cs typeface="Copperplate Gothic 29 AB Bold"/>
                <a:sym typeface="Copperplate Gothic 29 AB Bold"/>
              </a:rPr>
              <a:t>were walking</a:t>
            </a:r>
            <a:r>
              <a:rPr lang="en-US" sz="3399">
                <a:solidFill>
                  <a:srgbClr val="000000"/>
                </a:solidFill>
                <a:latin typeface="Copperplate Gothic 29 AB Bold"/>
                <a:ea typeface="Copperplate Gothic 29 AB Bold"/>
                <a:cs typeface="Copperplate Gothic 29 AB Bold"/>
                <a:sym typeface="Copperplate Gothic 29 AB Bold"/>
              </a:rPr>
              <a:t> our dog </a:t>
            </a:r>
            <a:r>
              <a:rPr lang="en-US" sz="3399" i="true">
                <a:solidFill>
                  <a:srgbClr val="000000"/>
                </a:solidFill>
                <a:latin typeface="Copperplate Gothic 29 AB Bold"/>
                <a:ea typeface="Copperplate Gothic 29 AB Bold"/>
                <a:cs typeface="Copperplate Gothic 29 AB Bold"/>
                <a:sym typeface="Copperplate Gothic 29 AB Bold"/>
              </a:rPr>
              <a:t>when</a:t>
            </a:r>
            <a:r>
              <a:rPr lang="en-US" sz="3399">
                <a:solidFill>
                  <a:srgbClr val="000000"/>
                </a:solidFill>
                <a:latin typeface="Copperplate Gothic 29 AB Bold"/>
                <a:ea typeface="Copperplate Gothic 29 AB Bold"/>
                <a:cs typeface="Copperplate Gothic 29 AB Bold"/>
                <a:sym typeface="Copperplate Gothic 29 AB Bold"/>
              </a:rPr>
              <a:t> it </a:t>
            </a:r>
            <a:r>
              <a:rPr lang="en-US" sz="3399" i="true">
                <a:solidFill>
                  <a:srgbClr val="000000"/>
                </a:solidFill>
                <a:latin typeface="Copperplate Gothic 29 AB Bold"/>
                <a:ea typeface="Copperplate Gothic 29 AB Bold"/>
                <a:cs typeface="Copperplate Gothic 29 AB Bold"/>
                <a:sym typeface="Copperplate Gothic 29 AB Bold"/>
              </a:rPr>
              <a:t>started</a:t>
            </a:r>
            <a:r>
              <a:rPr lang="en-US" sz="3399">
                <a:solidFill>
                  <a:srgbClr val="000000"/>
                </a:solidFill>
                <a:latin typeface="Copperplate Gothic 29 AB Bold"/>
                <a:ea typeface="Copperplate Gothic 29 AB Bold"/>
                <a:cs typeface="Copperplate Gothic 29 AB Bold"/>
                <a:sym typeface="Copperplate Gothic 29 AB Bold"/>
              </a:rPr>
              <a:t> to rain last night.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93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319203">
            <a:off x="2660834" y="1750584"/>
            <a:ext cx="21499016" cy="11931954"/>
          </a:xfrm>
          <a:custGeom>
            <a:avLst/>
            <a:gdLst/>
            <a:ahLst/>
            <a:cxnLst/>
            <a:rect r="r" b="b" t="t" l="l"/>
            <a:pathLst>
              <a:path h="11931954" w="21499016">
                <a:moveTo>
                  <a:pt x="0" y="0"/>
                </a:moveTo>
                <a:lnTo>
                  <a:pt x="21499016" y="0"/>
                </a:lnTo>
                <a:lnTo>
                  <a:pt x="21499016" y="11931953"/>
                </a:lnTo>
                <a:lnTo>
                  <a:pt x="0" y="119319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521875" y="1028700"/>
            <a:ext cx="7996004" cy="7466269"/>
          </a:xfrm>
          <a:custGeom>
            <a:avLst/>
            <a:gdLst/>
            <a:ahLst/>
            <a:cxnLst/>
            <a:rect r="r" b="b" t="t" l="l"/>
            <a:pathLst>
              <a:path h="7466269" w="7996004">
                <a:moveTo>
                  <a:pt x="7996004" y="0"/>
                </a:moveTo>
                <a:lnTo>
                  <a:pt x="0" y="0"/>
                </a:lnTo>
                <a:lnTo>
                  <a:pt x="0" y="7466269"/>
                </a:lnTo>
                <a:lnTo>
                  <a:pt x="7996004" y="7466269"/>
                </a:lnTo>
                <a:lnTo>
                  <a:pt x="799600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09765" y="2619277"/>
            <a:ext cx="4149389" cy="6639023"/>
          </a:xfrm>
          <a:custGeom>
            <a:avLst/>
            <a:gdLst/>
            <a:ahLst/>
            <a:cxnLst/>
            <a:rect r="r" b="b" t="t" l="l"/>
            <a:pathLst>
              <a:path h="6639023" w="4149389">
                <a:moveTo>
                  <a:pt x="0" y="0"/>
                </a:moveTo>
                <a:lnTo>
                  <a:pt x="4149389" y="0"/>
                </a:lnTo>
                <a:lnTo>
                  <a:pt x="4149389" y="6639023"/>
                </a:lnTo>
                <a:lnTo>
                  <a:pt x="0" y="66390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54196" y="1812260"/>
            <a:ext cx="4731362" cy="2949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Copperplate Gothic 29 AB Bold"/>
                <a:ea typeface="Copperplate Gothic 29 AB Bold"/>
                <a:cs typeface="Copperplate Gothic 29 AB Bold"/>
                <a:sym typeface="Copperplate Gothic 29 AB Bold"/>
              </a:rPr>
              <a:t>Let's Practice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0220928" y="1457254"/>
            <a:ext cx="3409778" cy="3686246"/>
          </a:xfrm>
          <a:custGeom>
            <a:avLst/>
            <a:gdLst/>
            <a:ahLst/>
            <a:cxnLst/>
            <a:rect r="r" b="b" t="t" l="l"/>
            <a:pathLst>
              <a:path h="3686246" w="3409778">
                <a:moveTo>
                  <a:pt x="3409778" y="0"/>
                </a:moveTo>
                <a:lnTo>
                  <a:pt x="0" y="0"/>
                </a:lnTo>
                <a:lnTo>
                  <a:pt x="0" y="3686246"/>
                </a:lnTo>
                <a:lnTo>
                  <a:pt x="3409778" y="3686246"/>
                </a:lnTo>
                <a:lnTo>
                  <a:pt x="3409778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611428" y="2476402"/>
            <a:ext cx="2628778" cy="705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sz="3720">
                <a:solidFill>
                  <a:srgbClr val="000000"/>
                </a:solidFill>
                <a:latin typeface="Copperplate Gothic 29 BC Bold"/>
                <a:ea typeface="Copperplate Gothic 29 BC Bold"/>
                <a:cs typeface="Copperplate Gothic 29 BC Bold"/>
                <a:sym typeface="Copperplate Gothic 29 BC Bold"/>
              </a:rPr>
              <a:t>I am Ready!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749350"/>
            <a:ext cx="16230600" cy="4508950"/>
            <a:chOff x="0" y="0"/>
            <a:chExt cx="4274726" cy="11875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187542"/>
            </a:xfrm>
            <a:custGeom>
              <a:avLst/>
              <a:gdLst/>
              <a:ahLst/>
              <a:cxnLst/>
              <a:rect r="r" b="b" t="t" l="l"/>
              <a:pathLst>
                <a:path h="1187542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187542"/>
                  </a:lnTo>
                  <a:lnTo>
                    <a:pt x="0" y="1187542"/>
                  </a:lnTo>
                  <a:close/>
                </a:path>
              </a:pathLst>
            </a:custGeom>
            <a:solidFill>
              <a:srgbClr val="CED6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274726" cy="1263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747004" y="4397427"/>
            <a:ext cx="11308561" cy="4860873"/>
          </a:xfrm>
          <a:custGeom>
            <a:avLst/>
            <a:gdLst/>
            <a:ahLst/>
            <a:cxnLst/>
            <a:rect r="r" b="b" t="t" l="l"/>
            <a:pathLst>
              <a:path h="4860873" w="11308561">
                <a:moveTo>
                  <a:pt x="0" y="0"/>
                </a:moveTo>
                <a:lnTo>
                  <a:pt x="11308561" y="0"/>
                </a:lnTo>
                <a:lnTo>
                  <a:pt x="11308561" y="4860873"/>
                </a:lnTo>
                <a:lnTo>
                  <a:pt x="0" y="48608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7" t="0" r="-447" b="-1442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619040"/>
            <a:ext cx="10324266" cy="1506964"/>
            <a:chOff x="0" y="0"/>
            <a:chExt cx="2719148" cy="3968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9148" cy="396896"/>
            </a:xfrm>
            <a:custGeom>
              <a:avLst/>
              <a:gdLst/>
              <a:ahLst/>
              <a:cxnLst/>
              <a:rect r="r" b="b" t="t" l="l"/>
              <a:pathLst>
                <a:path h="396896" w="2719148">
                  <a:moveTo>
                    <a:pt x="0" y="0"/>
                  </a:moveTo>
                  <a:lnTo>
                    <a:pt x="2719148" y="0"/>
                  </a:lnTo>
                  <a:lnTo>
                    <a:pt x="2719148" y="396896"/>
                  </a:lnTo>
                  <a:lnTo>
                    <a:pt x="0" y="396896"/>
                  </a:lnTo>
                  <a:close/>
                </a:path>
              </a:pathLst>
            </a:custGeom>
            <a:solidFill>
              <a:srgbClr val="D4E8B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719148" cy="473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591049"/>
            <a:ext cx="11002948" cy="1530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Copperplate Gothic 29 AB"/>
                <a:ea typeface="Copperplate Gothic 29 AB"/>
                <a:cs typeface="Copperplate Gothic 29 AB"/>
                <a:sym typeface="Copperplate Gothic 29 AB"/>
              </a:rPr>
              <a:t>Practice Exercise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745129"/>
            <a:ext cx="15946634" cy="124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 children (play) ___________________________ while they _______________ (listen) to their teacher.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749350"/>
            <a:ext cx="16230600" cy="4508950"/>
            <a:chOff x="0" y="0"/>
            <a:chExt cx="4274726" cy="11875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187542"/>
            </a:xfrm>
            <a:custGeom>
              <a:avLst/>
              <a:gdLst/>
              <a:ahLst/>
              <a:cxnLst/>
              <a:rect r="r" b="b" t="t" l="l"/>
              <a:pathLst>
                <a:path h="1187542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187542"/>
                  </a:lnTo>
                  <a:lnTo>
                    <a:pt x="0" y="1187542"/>
                  </a:lnTo>
                  <a:close/>
                </a:path>
              </a:pathLst>
            </a:custGeom>
            <a:solidFill>
              <a:srgbClr val="CED6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274726" cy="1263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807440" y="4670565"/>
            <a:ext cx="10673119" cy="4587735"/>
          </a:xfrm>
          <a:custGeom>
            <a:avLst/>
            <a:gdLst/>
            <a:ahLst/>
            <a:cxnLst/>
            <a:rect r="r" b="b" t="t" l="l"/>
            <a:pathLst>
              <a:path h="4587735" w="10673119">
                <a:moveTo>
                  <a:pt x="0" y="0"/>
                </a:moveTo>
                <a:lnTo>
                  <a:pt x="10673120" y="0"/>
                </a:lnTo>
                <a:lnTo>
                  <a:pt x="10673120" y="4587735"/>
                </a:lnTo>
                <a:lnTo>
                  <a:pt x="0" y="4587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7" t="0" r="-447" b="-1442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619040"/>
            <a:ext cx="10324266" cy="1506964"/>
            <a:chOff x="0" y="0"/>
            <a:chExt cx="2719148" cy="3968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9148" cy="396896"/>
            </a:xfrm>
            <a:custGeom>
              <a:avLst/>
              <a:gdLst/>
              <a:ahLst/>
              <a:cxnLst/>
              <a:rect r="r" b="b" t="t" l="l"/>
              <a:pathLst>
                <a:path h="396896" w="2719148">
                  <a:moveTo>
                    <a:pt x="0" y="0"/>
                  </a:moveTo>
                  <a:lnTo>
                    <a:pt x="2719148" y="0"/>
                  </a:lnTo>
                  <a:lnTo>
                    <a:pt x="2719148" y="396896"/>
                  </a:lnTo>
                  <a:lnTo>
                    <a:pt x="0" y="396896"/>
                  </a:lnTo>
                  <a:close/>
                </a:path>
              </a:pathLst>
            </a:custGeom>
            <a:solidFill>
              <a:srgbClr val="D4E8B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719148" cy="473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591049"/>
            <a:ext cx="11002948" cy="1530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Copperplate Gothic 29 AB"/>
                <a:ea typeface="Copperplate Gothic 29 AB"/>
                <a:cs typeface="Copperplate Gothic 29 AB"/>
                <a:sym typeface="Copperplate Gothic 29 AB"/>
              </a:rPr>
              <a:t>Practice Exercise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795272"/>
            <a:ext cx="15946634" cy="124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 children (play) ____</a:t>
            </a:r>
            <a:r>
              <a:rPr lang="en-US" sz="3399" i="true">
                <a:solidFill>
                  <a:srgbClr val="000000"/>
                </a:solidFill>
                <a:latin typeface="Futura Italics"/>
                <a:ea typeface="Futura Italics"/>
                <a:cs typeface="Futura Italics"/>
                <a:sym typeface="Futura Italics"/>
              </a:rPr>
              <a:t>were playing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____ while they ___</a:t>
            </a:r>
            <a:r>
              <a:rPr lang="en-US" sz="3399" i="true">
                <a:solidFill>
                  <a:srgbClr val="000000"/>
                </a:solidFill>
                <a:latin typeface="Futura Italics"/>
                <a:ea typeface="Futura Italics"/>
                <a:cs typeface="Futura Italics"/>
                <a:sym typeface="Futura Italics"/>
              </a:rPr>
              <a:t>were listening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___ (listen) to their teacher.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749350"/>
            <a:ext cx="16230600" cy="4508950"/>
            <a:chOff x="0" y="0"/>
            <a:chExt cx="4274726" cy="11875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187542"/>
            </a:xfrm>
            <a:custGeom>
              <a:avLst/>
              <a:gdLst/>
              <a:ahLst/>
              <a:cxnLst/>
              <a:rect r="r" b="b" t="t" l="l"/>
              <a:pathLst>
                <a:path h="1187542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187542"/>
                  </a:lnTo>
                  <a:lnTo>
                    <a:pt x="0" y="1187542"/>
                  </a:lnTo>
                  <a:close/>
                </a:path>
              </a:pathLst>
            </a:custGeom>
            <a:solidFill>
              <a:srgbClr val="CED6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274726" cy="1263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866480" y="4928618"/>
            <a:ext cx="12163429" cy="4150414"/>
          </a:xfrm>
          <a:custGeom>
            <a:avLst/>
            <a:gdLst/>
            <a:ahLst/>
            <a:cxnLst/>
            <a:rect r="r" b="b" t="t" l="l"/>
            <a:pathLst>
              <a:path h="4150414" w="12163429">
                <a:moveTo>
                  <a:pt x="0" y="0"/>
                </a:moveTo>
                <a:lnTo>
                  <a:pt x="12163428" y="0"/>
                </a:lnTo>
                <a:lnTo>
                  <a:pt x="12163428" y="4150414"/>
                </a:lnTo>
                <a:lnTo>
                  <a:pt x="0" y="4150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919" r="0" b="-3791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619040"/>
            <a:ext cx="10324266" cy="1506964"/>
            <a:chOff x="0" y="0"/>
            <a:chExt cx="2719148" cy="3968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9148" cy="396896"/>
            </a:xfrm>
            <a:custGeom>
              <a:avLst/>
              <a:gdLst/>
              <a:ahLst/>
              <a:cxnLst/>
              <a:rect r="r" b="b" t="t" l="l"/>
              <a:pathLst>
                <a:path h="396896" w="2719148">
                  <a:moveTo>
                    <a:pt x="0" y="0"/>
                  </a:moveTo>
                  <a:lnTo>
                    <a:pt x="2719148" y="0"/>
                  </a:lnTo>
                  <a:lnTo>
                    <a:pt x="2719148" y="396896"/>
                  </a:lnTo>
                  <a:lnTo>
                    <a:pt x="0" y="396896"/>
                  </a:lnTo>
                  <a:close/>
                </a:path>
              </a:pathLst>
            </a:custGeom>
            <a:solidFill>
              <a:srgbClr val="D4E8B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719148" cy="473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591049"/>
            <a:ext cx="11002948" cy="1530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Copperplate Gothic 29 AB"/>
                <a:ea typeface="Copperplate Gothic 29 AB"/>
                <a:cs typeface="Copperplate Gothic 29 AB"/>
                <a:sym typeface="Copperplate Gothic 29 AB"/>
              </a:rPr>
              <a:t>Practice Exercise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845048"/>
            <a:ext cx="15303898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My family and I ___________________________ (go) on a road trip.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749350"/>
            <a:ext cx="16230600" cy="4508950"/>
            <a:chOff x="0" y="0"/>
            <a:chExt cx="4274726" cy="11875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187542"/>
            </a:xfrm>
            <a:custGeom>
              <a:avLst/>
              <a:gdLst/>
              <a:ahLst/>
              <a:cxnLst/>
              <a:rect r="r" b="b" t="t" l="l"/>
              <a:pathLst>
                <a:path h="1187542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187542"/>
                  </a:lnTo>
                  <a:lnTo>
                    <a:pt x="0" y="1187542"/>
                  </a:lnTo>
                  <a:close/>
                </a:path>
              </a:pathLst>
            </a:custGeom>
            <a:solidFill>
              <a:srgbClr val="CED6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274726" cy="1263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866480" y="4928618"/>
            <a:ext cx="12163429" cy="4150414"/>
          </a:xfrm>
          <a:custGeom>
            <a:avLst/>
            <a:gdLst/>
            <a:ahLst/>
            <a:cxnLst/>
            <a:rect r="r" b="b" t="t" l="l"/>
            <a:pathLst>
              <a:path h="4150414" w="12163429">
                <a:moveTo>
                  <a:pt x="0" y="0"/>
                </a:moveTo>
                <a:lnTo>
                  <a:pt x="12163428" y="0"/>
                </a:lnTo>
                <a:lnTo>
                  <a:pt x="12163428" y="4150414"/>
                </a:lnTo>
                <a:lnTo>
                  <a:pt x="0" y="4150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919" r="0" b="-3791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619040"/>
            <a:ext cx="10324266" cy="1506964"/>
            <a:chOff x="0" y="0"/>
            <a:chExt cx="2719148" cy="3968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9148" cy="396896"/>
            </a:xfrm>
            <a:custGeom>
              <a:avLst/>
              <a:gdLst/>
              <a:ahLst/>
              <a:cxnLst/>
              <a:rect r="r" b="b" t="t" l="l"/>
              <a:pathLst>
                <a:path h="396896" w="2719148">
                  <a:moveTo>
                    <a:pt x="0" y="0"/>
                  </a:moveTo>
                  <a:lnTo>
                    <a:pt x="2719148" y="0"/>
                  </a:lnTo>
                  <a:lnTo>
                    <a:pt x="2719148" y="396896"/>
                  </a:lnTo>
                  <a:lnTo>
                    <a:pt x="0" y="396896"/>
                  </a:lnTo>
                  <a:close/>
                </a:path>
              </a:pathLst>
            </a:custGeom>
            <a:solidFill>
              <a:srgbClr val="D4E8B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719148" cy="473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591049"/>
            <a:ext cx="11002948" cy="1530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Copperplate Gothic 29 AB"/>
                <a:ea typeface="Copperplate Gothic 29 AB"/>
                <a:cs typeface="Copperplate Gothic 29 AB"/>
                <a:sym typeface="Copperplate Gothic 29 AB"/>
              </a:rPr>
              <a:t>Practice Exercise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5392" y="2879190"/>
            <a:ext cx="15162066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My family and I ________</a:t>
            </a:r>
            <a:r>
              <a:rPr lang="en-US" sz="3399" i="true">
                <a:solidFill>
                  <a:srgbClr val="000000"/>
                </a:solidFill>
                <a:latin typeface="Futura Italics"/>
                <a:ea typeface="Futura Italics"/>
                <a:cs typeface="Futura Italics"/>
                <a:sym typeface="Futura Italics"/>
              </a:rPr>
              <a:t>went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_____ (go) on a road trip.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749350"/>
            <a:ext cx="16230600" cy="4508950"/>
            <a:chOff x="0" y="0"/>
            <a:chExt cx="4274726" cy="11875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187542"/>
            </a:xfrm>
            <a:custGeom>
              <a:avLst/>
              <a:gdLst/>
              <a:ahLst/>
              <a:cxnLst/>
              <a:rect r="r" b="b" t="t" l="l"/>
              <a:pathLst>
                <a:path h="1187542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187542"/>
                  </a:lnTo>
                  <a:lnTo>
                    <a:pt x="0" y="1187542"/>
                  </a:lnTo>
                  <a:close/>
                </a:path>
              </a:pathLst>
            </a:custGeom>
            <a:solidFill>
              <a:srgbClr val="CED6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274726" cy="1263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619040"/>
            <a:ext cx="10324266" cy="1506964"/>
            <a:chOff x="0" y="0"/>
            <a:chExt cx="2719148" cy="3968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19148" cy="396896"/>
            </a:xfrm>
            <a:custGeom>
              <a:avLst/>
              <a:gdLst/>
              <a:ahLst/>
              <a:cxnLst/>
              <a:rect r="r" b="b" t="t" l="l"/>
              <a:pathLst>
                <a:path h="396896" w="2719148">
                  <a:moveTo>
                    <a:pt x="0" y="0"/>
                  </a:moveTo>
                  <a:lnTo>
                    <a:pt x="2719148" y="0"/>
                  </a:lnTo>
                  <a:lnTo>
                    <a:pt x="2719148" y="396896"/>
                  </a:lnTo>
                  <a:lnTo>
                    <a:pt x="0" y="396896"/>
                  </a:lnTo>
                  <a:close/>
                </a:path>
              </a:pathLst>
            </a:custGeom>
            <a:solidFill>
              <a:srgbClr val="D4E8B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719148" cy="473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591049"/>
            <a:ext cx="11002948" cy="1530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Copperplate Gothic 29 AB"/>
                <a:ea typeface="Copperplate Gothic 29 AB"/>
                <a:cs typeface="Copperplate Gothic 29 AB"/>
                <a:sym typeface="Copperplate Gothic 29 AB"/>
              </a:rPr>
              <a:t>Practice Exercise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5392" y="2640194"/>
            <a:ext cx="16083908" cy="124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They __________ (study) English, when the principal ________ (come) into the classroom.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300528" y="4363584"/>
            <a:ext cx="11087767" cy="4756775"/>
          </a:xfrm>
          <a:custGeom>
            <a:avLst/>
            <a:gdLst/>
            <a:ahLst/>
            <a:cxnLst/>
            <a:rect r="r" b="b" t="t" l="l"/>
            <a:pathLst>
              <a:path h="4756775" w="11087767">
                <a:moveTo>
                  <a:pt x="0" y="0"/>
                </a:moveTo>
                <a:lnTo>
                  <a:pt x="11087767" y="0"/>
                </a:lnTo>
                <a:lnTo>
                  <a:pt x="11087767" y="4756775"/>
                </a:lnTo>
                <a:lnTo>
                  <a:pt x="0" y="4756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28" r="-6178" b="-230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749350"/>
            <a:ext cx="16230600" cy="4508950"/>
            <a:chOff x="0" y="0"/>
            <a:chExt cx="4274726" cy="11875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187542"/>
            </a:xfrm>
            <a:custGeom>
              <a:avLst/>
              <a:gdLst/>
              <a:ahLst/>
              <a:cxnLst/>
              <a:rect r="r" b="b" t="t" l="l"/>
              <a:pathLst>
                <a:path h="1187542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187542"/>
                  </a:lnTo>
                  <a:lnTo>
                    <a:pt x="0" y="1187542"/>
                  </a:lnTo>
                  <a:close/>
                </a:path>
              </a:pathLst>
            </a:custGeom>
            <a:solidFill>
              <a:srgbClr val="CED6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274726" cy="1263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300528" y="4363584"/>
            <a:ext cx="11087767" cy="4756775"/>
          </a:xfrm>
          <a:custGeom>
            <a:avLst/>
            <a:gdLst/>
            <a:ahLst/>
            <a:cxnLst/>
            <a:rect r="r" b="b" t="t" l="l"/>
            <a:pathLst>
              <a:path h="4756775" w="11087767">
                <a:moveTo>
                  <a:pt x="0" y="0"/>
                </a:moveTo>
                <a:lnTo>
                  <a:pt x="11087767" y="0"/>
                </a:lnTo>
                <a:lnTo>
                  <a:pt x="11087767" y="4756775"/>
                </a:lnTo>
                <a:lnTo>
                  <a:pt x="0" y="4756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28" r="-6178" b="-230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619040"/>
            <a:ext cx="10324266" cy="1506964"/>
            <a:chOff x="0" y="0"/>
            <a:chExt cx="2719148" cy="3968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9148" cy="396896"/>
            </a:xfrm>
            <a:custGeom>
              <a:avLst/>
              <a:gdLst/>
              <a:ahLst/>
              <a:cxnLst/>
              <a:rect r="r" b="b" t="t" l="l"/>
              <a:pathLst>
                <a:path h="396896" w="2719148">
                  <a:moveTo>
                    <a:pt x="0" y="0"/>
                  </a:moveTo>
                  <a:lnTo>
                    <a:pt x="2719148" y="0"/>
                  </a:lnTo>
                  <a:lnTo>
                    <a:pt x="2719148" y="396896"/>
                  </a:lnTo>
                  <a:lnTo>
                    <a:pt x="0" y="396896"/>
                  </a:lnTo>
                  <a:close/>
                </a:path>
              </a:pathLst>
            </a:custGeom>
            <a:solidFill>
              <a:srgbClr val="D4E8B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719148" cy="473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591049"/>
            <a:ext cx="11002948" cy="1530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Copperplate Gothic 29 AB"/>
                <a:ea typeface="Copperplate Gothic 29 AB"/>
                <a:cs typeface="Copperplate Gothic 29 AB"/>
                <a:sym typeface="Copperplate Gothic 29 AB"/>
              </a:rPr>
              <a:t>Practice Exercise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5392" y="2640194"/>
            <a:ext cx="16083908" cy="124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They ____</a:t>
            </a:r>
            <a:r>
              <a:rPr lang="en-US" sz="3399" i="true">
                <a:solidFill>
                  <a:srgbClr val="000000"/>
                </a:solidFill>
                <a:latin typeface="Futura Italics"/>
                <a:ea typeface="Futura Italics"/>
                <a:cs typeface="Futura Italics"/>
                <a:sym typeface="Futura Italics"/>
              </a:rPr>
              <a:t>were studying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____ (study) English, when the principal </a:t>
            </a:r>
            <a:r>
              <a:rPr lang="en-US" sz="3399" i="true">
                <a:solidFill>
                  <a:srgbClr val="000000"/>
                </a:solidFill>
                <a:latin typeface="Futura Italics"/>
                <a:ea typeface="Futura Italics"/>
                <a:cs typeface="Futura Italics"/>
                <a:sym typeface="Futura Italics"/>
              </a:rPr>
              <a:t>_____came__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(come) into the classroom.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DAHWslbqKu4</dc:identifier>
  <dcterms:modified xsi:type="dcterms:W3CDTF">2011-08-01T06:04:30Z</dcterms:modified>
  <cp:revision>1</cp:revision>
  <dc:title>Past Continuous Vs. Past Simple Presentation</dc:title>
</cp:coreProperties>
</file>