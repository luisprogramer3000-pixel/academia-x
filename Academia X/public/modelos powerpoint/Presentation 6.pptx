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Amatic SC Bold" charset="1" panose="00000800000000000000"/>
      <p:regular r:id="rId23"/>
    </p:embeddedFont>
    <p:embeddedFont>
      <p:font typeface="Glacial Indifference" charset="1" panose="00000000000000000000"/>
      <p:regular r:id="rId24"/>
    </p:embeddedFont>
    <p:embeddedFont>
      <p:font typeface="Amatic SC" charset="1" panose="00000500000000000000"/>
      <p:regular r:id="rId25"/>
    </p:embeddedFont>
    <p:embeddedFont>
      <p:font typeface="Glacial Indifference Bold" charset="1" panose="000008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45.png" Type="http://schemas.openxmlformats.org/officeDocument/2006/relationships/image"/><Relationship Id="rId13" Target="../media/image46.svg" Type="http://schemas.openxmlformats.org/officeDocument/2006/relationships/image"/><Relationship Id="rId14" Target="../media/image47.png" Type="http://schemas.openxmlformats.org/officeDocument/2006/relationships/image"/><Relationship Id="rId15" Target="../media/image48.svg" Type="http://schemas.openxmlformats.org/officeDocument/2006/relationships/image"/><Relationship Id="rId16" Target="../media/image49.png" Type="http://schemas.openxmlformats.org/officeDocument/2006/relationships/image"/><Relationship Id="rId17" Target="../media/image50.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37.png" Type="http://schemas.openxmlformats.org/officeDocument/2006/relationships/image"/><Relationship Id="rId20" Target="../media/image51.png" Type="http://schemas.openxmlformats.org/officeDocument/2006/relationships/image"/><Relationship Id="rId21" Target="../media/image52.svg" Type="http://schemas.openxmlformats.org/officeDocument/2006/relationships/image"/><Relationship Id="rId22" Target="../media/image53.png" Type="http://schemas.openxmlformats.org/officeDocument/2006/relationships/image"/><Relationship Id="rId23" Target="../media/image54.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7.png" Type="http://schemas.openxmlformats.org/officeDocument/2006/relationships/image"/><Relationship Id="rId27" Target="../media/image8.svg" Type="http://schemas.openxmlformats.org/officeDocument/2006/relationships/image"/><Relationship Id="rId28" Target="../media/image55.png" Type="http://schemas.openxmlformats.org/officeDocument/2006/relationships/image"/><Relationship Id="rId29" Target="../media/image56.svg" Type="http://schemas.openxmlformats.org/officeDocument/2006/relationships/image"/><Relationship Id="rId3" Target="../media/image38.svg" Type="http://schemas.openxmlformats.org/officeDocument/2006/relationships/image"/><Relationship Id="rId30" Target="../media/image57.png" Type="http://schemas.openxmlformats.org/officeDocument/2006/relationships/image"/><Relationship Id="rId31" Target="../media/image5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E8D7"/>
        </a:solidFill>
      </p:bgPr>
    </p:bg>
    <p:spTree>
      <p:nvGrpSpPr>
        <p:cNvPr id="1" name=""/>
        <p:cNvGrpSpPr/>
        <p:nvPr/>
      </p:nvGrpSpPr>
      <p:grpSpPr>
        <a:xfrm>
          <a:off x="0" y="0"/>
          <a:ext cx="0" cy="0"/>
          <a:chOff x="0" y="0"/>
          <a:chExt cx="0" cy="0"/>
        </a:xfrm>
      </p:grpSpPr>
      <p:sp>
        <p:nvSpPr>
          <p:cNvPr name="Freeform 2" id="2"/>
          <p:cNvSpPr/>
          <p:nvPr/>
        </p:nvSpPr>
        <p:spPr>
          <a:xfrm flipH="true" flipV="false" rot="0">
            <a:off x="-385628" y="5668621"/>
            <a:ext cx="18992249" cy="5683323"/>
          </a:xfrm>
          <a:custGeom>
            <a:avLst/>
            <a:gdLst/>
            <a:ahLst/>
            <a:cxnLst/>
            <a:rect r="r" b="b" t="t" l="l"/>
            <a:pathLst>
              <a:path h="5683323" w="18992249">
                <a:moveTo>
                  <a:pt x="18992249" y="0"/>
                </a:moveTo>
                <a:lnTo>
                  <a:pt x="0" y="0"/>
                </a:lnTo>
                <a:lnTo>
                  <a:pt x="0" y="5683323"/>
                </a:lnTo>
                <a:lnTo>
                  <a:pt x="18992249" y="5683323"/>
                </a:lnTo>
                <a:lnTo>
                  <a:pt x="1899224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08624" y="3698582"/>
            <a:ext cx="4781036" cy="6588418"/>
          </a:xfrm>
          <a:custGeom>
            <a:avLst/>
            <a:gdLst/>
            <a:ahLst/>
            <a:cxnLst/>
            <a:rect r="r" b="b" t="t" l="l"/>
            <a:pathLst>
              <a:path h="6588418" w="4781036">
                <a:moveTo>
                  <a:pt x="0" y="0"/>
                </a:moveTo>
                <a:lnTo>
                  <a:pt x="4781037" y="0"/>
                </a:lnTo>
                <a:lnTo>
                  <a:pt x="4781037" y="6588418"/>
                </a:lnTo>
                <a:lnTo>
                  <a:pt x="0" y="65884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653239" y="295655"/>
            <a:ext cx="16914516" cy="3267113"/>
          </a:xfrm>
          <a:prstGeom prst="rect">
            <a:avLst/>
          </a:prstGeom>
        </p:spPr>
        <p:txBody>
          <a:bodyPr anchor="t" rtlCol="false" tIns="0" lIns="0" bIns="0" rIns="0">
            <a:spAutoFit/>
          </a:bodyPr>
          <a:lstStyle/>
          <a:p>
            <a:pPr algn="ctr">
              <a:lnSpc>
                <a:spcPts val="26772"/>
              </a:lnSpc>
            </a:pPr>
            <a:r>
              <a:rPr lang="en-US" sz="19123" b="true">
                <a:solidFill>
                  <a:srgbClr val="4A3222"/>
                </a:solidFill>
                <a:latin typeface="Amatic SC Bold"/>
                <a:ea typeface="Amatic SC Bold"/>
                <a:cs typeface="Amatic SC Bold"/>
                <a:sym typeface="Amatic SC Bold"/>
              </a:rPr>
              <a:t>Gerunds or Infinitives?</a:t>
            </a:r>
          </a:p>
        </p:txBody>
      </p:sp>
      <p:sp>
        <p:nvSpPr>
          <p:cNvPr name="TextBox 5" id="5"/>
          <p:cNvSpPr txBox="true"/>
          <p:nvPr/>
        </p:nvSpPr>
        <p:spPr>
          <a:xfrm rot="0">
            <a:off x="900772" y="3276941"/>
            <a:ext cx="8765690" cy="748032"/>
          </a:xfrm>
          <a:prstGeom prst="rect">
            <a:avLst/>
          </a:prstGeom>
        </p:spPr>
        <p:txBody>
          <a:bodyPr anchor="t" rtlCol="false" tIns="0" lIns="0" bIns="0" rIns="0">
            <a:spAutoFit/>
          </a:bodyPr>
          <a:lstStyle/>
          <a:p>
            <a:pPr algn="l">
              <a:lnSpc>
                <a:spcPts val="6019"/>
              </a:lnSpc>
            </a:pPr>
            <a:r>
              <a:rPr lang="en-US" sz="4299">
                <a:solidFill>
                  <a:srgbClr val="473325"/>
                </a:solidFill>
                <a:latin typeface="Glacial Indifference"/>
                <a:ea typeface="Glacial Indifference"/>
                <a:cs typeface="Glacial Indifference"/>
                <a:sym typeface="Glacial Indifference"/>
              </a:rPr>
              <a:t>A Grammar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sp>
        <p:nvSpPr>
          <p:cNvPr name="TextBox 2" id="2"/>
          <p:cNvSpPr txBox="true"/>
          <p:nvPr/>
        </p:nvSpPr>
        <p:spPr>
          <a:xfrm rot="0">
            <a:off x="1028700" y="2930524"/>
            <a:ext cx="13834600" cy="6327776"/>
          </a:xfrm>
          <a:prstGeom prst="rect">
            <a:avLst/>
          </a:prstGeom>
        </p:spPr>
        <p:txBody>
          <a:bodyPr anchor="t" rtlCol="false" tIns="0" lIns="0" bIns="0" rIns="0">
            <a:spAutoFit/>
          </a:bodyPr>
          <a:lstStyle/>
          <a:p>
            <a:pPr algn="l">
              <a:lnSpc>
                <a:spcPts val="5599"/>
              </a:lnSpc>
              <a:spcBef>
                <a:spcPct val="0"/>
              </a:spcBef>
            </a:pPr>
            <a:r>
              <a:rPr lang="en-US" sz="3999">
                <a:solidFill>
                  <a:srgbClr val="4A3222"/>
                </a:solidFill>
                <a:latin typeface="Glacial Indifference"/>
                <a:ea typeface="Glacial Indifference"/>
                <a:cs typeface="Glacial Indifference"/>
                <a:sym typeface="Glacial Indifference"/>
              </a:rPr>
              <a:t>Welcome to today's lesson on the different uses of gerunds and infinitives in English. Sometimes it can be challenging to understand the different uses of these verb forms, but understanding them is essential for effective communication. In this presentation, we'll explore their various uses in different contexts. By the end of this lesson, you'll have a solid understanding of these grammar structures and how to use these forms correctly and confidently in your everyday conversations and writing.</a:t>
            </a:r>
          </a:p>
        </p:txBody>
      </p:sp>
      <p:sp>
        <p:nvSpPr>
          <p:cNvPr name="Freeform 3" id="3"/>
          <p:cNvSpPr/>
          <p:nvPr/>
        </p:nvSpPr>
        <p:spPr>
          <a:xfrm flipH="false" flipV="false" rot="0">
            <a:off x="15514998" y="2927774"/>
            <a:ext cx="8321135" cy="8182738"/>
          </a:xfrm>
          <a:custGeom>
            <a:avLst/>
            <a:gdLst/>
            <a:ahLst/>
            <a:cxnLst/>
            <a:rect r="r" b="b" t="t" l="l"/>
            <a:pathLst>
              <a:path h="8182738" w="8321135">
                <a:moveTo>
                  <a:pt x="0" y="0"/>
                </a:moveTo>
                <a:lnTo>
                  <a:pt x="8321135" y="0"/>
                </a:lnTo>
                <a:lnTo>
                  <a:pt x="8321135" y="8182738"/>
                </a:lnTo>
                <a:lnTo>
                  <a:pt x="0" y="81827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540148"/>
            <a:ext cx="13443865" cy="2387626"/>
          </a:xfrm>
          <a:prstGeom prst="rect">
            <a:avLst/>
          </a:prstGeom>
        </p:spPr>
        <p:txBody>
          <a:bodyPr anchor="t" rtlCol="false" tIns="0" lIns="0" bIns="0" rIns="0">
            <a:spAutoFit/>
          </a:bodyPr>
          <a:lstStyle/>
          <a:p>
            <a:pPr algn="l">
              <a:lnSpc>
                <a:spcPts val="19598"/>
              </a:lnSpc>
            </a:pPr>
            <a:r>
              <a:rPr lang="en-US" sz="13998" b="true">
                <a:solidFill>
                  <a:srgbClr val="4A3222"/>
                </a:solidFill>
                <a:latin typeface="Amatic SC Bold"/>
                <a:ea typeface="Amatic SC Bold"/>
                <a:cs typeface="Amatic SC Bold"/>
                <a:sym typeface="Amatic SC Bold"/>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sp>
        <p:nvSpPr>
          <p:cNvPr name="TextBox 2" id="2"/>
          <p:cNvSpPr txBox="true"/>
          <p:nvPr/>
        </p:nvSpPr>
        <p:spPr>
          <a:xfrm rot="0">
            <a:off x="1028700" y="378499"/>
            <a:ext cx="11974661" cy="3491865"/>
          </a:xfrm>
          <a:prstGeom prst="rect">
            <a:avLst/>
          </a:prstGeom>
        </p:spPr>
        <p:txBody>
          <a:bodyPr anchor="t" rtlCol="false" tIns="0" lIns="0" bIns="0" rIns="0">
            <a:spAutoFit/>
          </a:bodyPr>
          <a:lstStyle/>
          <a:p>
            <a:pPr algn="l">
              <a:lnSpc>
                <a:spcPts val="28559"/>
              </a:lnSpc>
            </a:pPr>
            <a:r>
              <a:rPr lang="en-US" sz="20400" b="true">
                <a:solidFill>
                  <a:srgbClr val="4A3222"/>
                </a:solidFill>
                <a:latin typeface="Amatic SC Bold"/>
                <a:ea typeface="Amatic SC Bold"/>
                <a:cs typeface="Amatic SC Bold"/>
                <a:sym typeface="Amatic SC Bold"/>
              </a:rPr>
              <a:t>Gerunds </a:t>
            </a:r>
          </a:p>
        </p:txBody>
      </p:sp>
      <p:sp>
        <p:nvSpPr>
          <p:cNvPr name="Freeform 3" id="3"/>
          <p:cNvSpPr/>
          <p:nvPr/>
        </p:nvSpPr>
        <p:spPr>
          <a:xfrm flipH="false" flipV="false" rot="0">
            <a:off x="12128457" y="1937148"/>
            <a:ext cx="6480540" cy="8658355"/>
          </a:xfrm>
          <a:custGeom>
            <a:avLst/>
            <a:gdLst/>
            <a:ahLst/>
            <a:cxnLst/>
            <a:rect r="r" b="b" t="t" l="l"/>
            <a:pathLst>
              <a:path h="8658355" w="6480540">
                <a:moveTo>
                  <a:pt x="0" y="0"/>
                </a:moveTo>
                <a:lnTo>
                  <a:pt x="6480541" y="0"/>
                </a:lnTo>
                <a:lnTo>
                  <a:pt x="6480541" y="8658354"/>
                </a:lnTo>
                <a:lnTo>
                  <a:pt x="0" y="86583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3651289"/>
            <a:ext cx="6775719" cy="1941536"/>
          </a:xfrm>
          <a:prstGeom prst="rect">
            <a:avLst/>
          </a:prstGeom>
        </p:spPr>
        <p:txBody>
          <a:bodyPr anchor="t" rtlCol="false" tIns="0" lIns="0" bIns="0" rIns="0">
            <a:spAutoFit/>
          </a:bodyPr>
          <a:lstStyle/>
          <a:p>
            <a:pPr algn="l">
              <a:lnSpc>
                <a:spcPts val="15836"/>
              </a:lnSpc>
              <a:spcBef>
                <a:spcPct val="0"/>
              </a:spcBef>
            </a:pPr>
            <a:r>
              <a:rPr lang="en-US" sz="11311">
                <a:solidFill>
                  <a:srgbClr val="4A3222"/>
                </a:solidFill>
                <a:latin typeface="Amatic SC"/>
                <a:ea typeface="Amatic SC"/>
                <a:cs typeface="Amatic SC"/>
                <a:sym typeface="Amatic SC"/>
              </a:rPr>
              <a:t>(verb + -ing)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2087358"/>
            <a:chOff x="0" y="0"/>
            <a:chExt cx="4274726" cy="549757"/>
          </a:xfrm>
        </p:grpSpPr>
        <p:sp>
          <p:nvSpPr>
            <p:cNvPr name="Freeform 3" id="3"/>
            <p:cNvSpPr/>
            <p:nvPr/>
          </p:nvSpPr>
          <p:spPr>
            <a:xfrm flipH="false" flipV="false" rot="0">
              <a:off x="0" y="0"/>
              <a:ext cx="4274726" cy="549757"/>
            </a:xfrm>
            <a:custGeom>
              <a:avLst/>
              <a:gdLst/>
              <a:ahLst/>
              <a:cxnLst/>
              <a:rect r="r" b="b" t="t" l="l"/>
              <a:pathLst>
                <a:path h="549757" w="4274726">
                  <a:moveTo>
                    <a:pt x="0" y="0"/>
                  </a:moveTo>
                  <a:lnTo>
                    <a:pt x="4274726" y="0"/>
                  </a:lnTo>
                  <a:lnTo>
                    <a:pt x="4274726" y="549757"/>
                  </a:lnTo>
                  <a:lnTo>
                    <a:pt x="0" y="549757"/>
                  </a:lnTo>
                  <a:close/>
                </a:path>
              </a:pathLst>
            </a:custGeom>
            <a:solidFill>
              <a:srgbClr val="FFFFFF"/>
            </a:solidFill>
            <a:ln w="9525" cap="sq">
              <a:solidFill>
                <a:srgbClr val="6A3F21"/>
              </a:solidFill>
              <a:prstDash val="solid"/>
              <a:miter/>
            </a:ln>
          </p:spPr>
        </p:sp>
        <p:sp>
          <p:nvSpPr>
            <p:cNvPr name="TextBox 4" id="4"/>
            <p:cNvSpPr txBox="true"/>
            <p:nvPr/>
          </p:nvSpPr>
          <p:spPr>
            <a:xfrm>
              <a:off x="0" y="-47625"/>
              <a:ext cx="4274726" cy="59738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677509" y="3468484"/>
            <a:ext cx="6581791" cy="5789816"/>
            <a:chOff x="0" y="0"/>
            <a:chExt cx="1733476" cy="1524890"/>
          </a:xfrm>
        </p:grpSpPr>
        <p:sp>
          <p:nvSpPr>
            <p:cNvPr name="Freeform 6" id="6"/>
            <p:cNvSpPr/>
            <p:nvPr/>
          </p:nvSpPr>
          <p:spPr>
            <a:xfrm flipH="false" flipV="false" rot="0">
              <a:off x="0" y="0"/>
              <a:ext cx="1733476" cy="1524890"/>
            </a:xfrm>
            <a:custGeom>
              <a:avLst/>
              <a:gdLst/>
              <a:ahLst/>
              <a:cxnLst/>
              <a:rect r="r" b="b" t="t" l="l"/>
              <a:pathLst>
                <a:path h="1524890" w="1733476">
                  <a:moveTo>
                    <a:pt x="0" y="0"/>
                  </a:moveTo>
                  <a:lnTo>
                    <a:pt x="1733476" y="0"/>
                  </a:lnTo>
                  <a:lnTo>
                    <a:pt x="1733476" y="1524890"/>
                  </a:lnTo>
                  <a:lnTo>
                    <a:pt x="0" y="1524890"/>
                  </a:lnTo>
                  <a:close/>
                </a:path>
              </a:pathLst>
            </a:custGeom>
            <a:solidFill>
              <a:srgbClr val="FFFFFF"/>
            </a:solidFill>
            <a:ln w="9525" cap="sq">
              <a:solidFill>
                <a:srgbClr val="6A3F21"/>
              </a:solidFill>
              <a:prstDash val="solid"/>
              <a:miter/>
            </a:ln>
          </p:spPr>
        </p:sp>
        <p:sp>
          <p:nvSpPr>
            <p:cNvPr name="TextBox 7" id="7"/>
            <p:cNvSpPr txBox="true"/>
            <p:nvPr/>
          </p:nvSpPr>
          <p:spPr>
            <a:xfrm>
              <a:off x="0" y="-47625"/>
              <a:ext cx="1733476" cy="1572515"/>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874379" y="5067687"/>
            <a:ext cx="6188051" cy="4114800"/>
          </a:xfrm>
          <a:custGeom>
            <a:avLst/>
            <a:gdLst/>
            <a:ahLst/>
            <a:cxnLst/>
            <a:rect r="r" b="b" t="t" l="l"/>
            <a:pathLst>
              <a:path h="4114800" w="6188051">
                <a:moveTo>
                  <a:pt x="0" y="0"/>
                </a:moveTo>
                <a:lnTo>
                  <a:pt x="6188051" y="0"/>
                </a:lnTo>
                <a:lnTo>
                  <a:pt x="618805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934135"/>
            <a:ext cx="16033730" cy="2047888"/>
          </a:xfrm>
          <a:prstGeom prst="rect">
            <a:avLst/>
          </a:prstGeom>
        </p:spPr>
        <p:txBody>
          <a:bodyPr anchor="t" rtlCol="false" tIns="0" lIns="0" bIns="0" rIns="0">
            <a:spAutoFit/>
          </a:bodyPr>
          <a:lstStyle/>
          <a:p>
            <a:pPr algn="ctr">
              <a:lnSpc>
                <a:spcPts val="16799"/>
              </a:lnSpc>
            </a:pPr>
            <a:r>
              <a:rPr lang="en-US" sz="11999" b="true">
                <a:solidFill>
                  <a:srgbClr val="4A3222"/>
                </a:solidFill>
                <a:latin typeface="Amatic SC Bold"/>
                <a:ea typeface="Amatic SC Bold"/>
                <a:cs typeface="Amatic SC Bold"/>
                <a:sym typeface="Amatic SC Bold"/>
              </a:rPr>
              <a:t>After prepositions and phrasal verbs</a:t>
            </a:r>
          </a:p>
        </p:txBody>
      </p:sp>
      <p:sp>
        <p:nvSpPr>
          <p:cNvPr name="TextBox 10" id="10"/>
          <p:cNvSpPr txBox="true"/>
          <p:nvPr/>
        </p:nvSpPr>
        <p:spPr>
          <a:xfrm rot="0">
            <a:off x="1028700" y="4310131"/>
            <a:ext cx="8765690" cy="1552577"/>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“I’m very good </a:t>
            </a:r>
            <a:r>
              <a:rPr lang="en-US" sz="4499" b="true">
                <a:solidFill>
                  <a:srgbClr val="473325"/>
                </a:solidFill>
                <a:latin typeface="Glacial Indifference Bold"/>
                <a:ea typeface="Glacial Indifference Bold"/>
                <a:cs typeface="Glacial Indifference Bold"/>
                <a:sym typeface="Glacial Indifference Bold"/>
              </a:rPr>
              <a:t>at drawing</a:t>
            </a:r>
            <a:r>
              <a:rPr lang="en-US" sz="4499">
                <a:solidFill>
                  <a:srgbClr val="473325"/>
                </a:solidFill>
                <a:latin typeface="Glacial Indifference"/>
                <a:ea typeface="Glacial Indifference"/>
                <a:cs typeface="Glacial Indifference"/>
                <a:sym typeface="Glacial Indifference"/>
              </a:rPr>
              <a:t>” (preposition)</a:t>
            </a:r>
          </a:p>
        </p:txBody>
      </p:sp>
      <p:sp>
        <p:nvSpPr>
          <p:cNvPr name="TextBox 11" id="11"/>
          <p:cNvSpPr txBox="true"/>
          <p:nvPr/>
        </p:nvSpPr>
        <p:spPr>
          <a:xfrm rot="0">
            <a:off x="1028700" y="6622047"/>
            <a:ext cx="8765690" cy="1552577"/>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“Olivia’s </a:t>
            </a:r>
            <a:r>
              <a:rPr lang="en-US" sz="4499" b="true">
                <a:solidFill>
                  <a:srgbClr val="473325"/>
                </a:solidFill>
                <a:latin typeface="Glacial Indifference Bold"/>
                <a:ea typeface="Glacial Indifference Bold"/>
                <a:cs typeface="Glacial Indifference Bold"/>
                <a:sym typeface="Glacial Indifference Bold"/>
              </a:rPr>
              <a:t>given up studying </a:t>
            </a:r>
            <a:r>
              <a:rPr lang="en-US" sz="4499">
                <a:solidFill>
                  <a:srgbClr val="473325"/>
                </a:solidFill>
                <a:latin typeface="Glacial Indifference"/>
                <a:ea typeface="Glacial Indifference"/>
                <a:cs typeface="Glacial Indifference"/>
                <a:sym typeface="Glacial Indifference"/>
              </a:rPr>
              <a:t>English” (phrasal verb)</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2076297"/>
            <a:chOff x="0" y="0"/>
            <a:chExt cx="4274726" cy="546844"/>
          </a:xfrm>
        </p:grpSpPr>
        <p:sp>
          <p:nvSpPr>
            <p:cNvPr name="Freeform 3" id="3"/>
            <p:cNvSpPr/>
            <p:nvPr/>
          </p:nvSpPr>
          <p:spPr>
            <a:xfrm flipH="false" flipV="false" rot="0">
              <a:off x="0" y="0"/>
              <a:ext cx="4274726" cy="546844"/>
            </a:xfrm>
            <a:custGeom>
              <a:avLst/>
              <a:gdLst/>
              <a:ahLst/>
              <a:cxnLst/>
              <a:rect r="r" b="b" t="t" l="l"/>
              <a:pathLst>
                <a:path h="546844" w="4274726">
                  <a:moveTo>
                    <a:pt x="0" y="0"/>
                  </a:moveTo>
                  <a:lnTo>
                    <a:pt x="4274726" y="0"/>
                  </a:lnTo>
                  <a:lnTo>
                    <a:pt x="4274726" y="546844"/>
                  </a:lnTo>
                  <a:lnTo>
                    <a:pt x="0" y="546844"/>
                  </a:lnTo>
                  <a:close/>
                </a:path>
              </a:pathLst>
            </a:custGeom>
            <a:solidFill>
              <a:srgbClr val="FFFFFF"/>
            </a:solidFill>
            <a:ln w="9525" cap="sq">
              <a:solidFill>
                <a:srgbClr val="6A3F21"/>
              </a:solidFill>
              <a:prstDash val="solid"/>
              <a:miter/>
            </a:ln>
          </p:spPr>
        </p:sp>
        <p:sp>
          <p:nvSpPr>
            <p:cNvPr name="TextBox 4" id="4"/>
            <p:cNvSpPr txBox="true"/>
            <p:nvPr/>
          </p:nvSpPr>
          <p:spPr>
            <a:xfrm>
              <a:off x="0" y="-47625"/>
              <a:ext cx="4274726" cy="59446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3762222"/>
            <a:ext cx="4545907" cy="5420265"/>
            <a:chOff x="0" y="0"/>
            <a:chExt cx="1197276" cy="1427560"/>
          </a:xfrm>
        </p:grpSpPr>
        <p:sp>
          <p:nvSpPr>
            <p:cNvPr name="Freeform 6" id="6"/>
            <p:cNvSpPr/>
            <p:nvPr/>
          </p:nvSpPr>
          <p:spPr>
            <a:xfrm flipH="false" flipV="false" rot="0">
              <a:off x="0" y="0"/>
              <a:ext cx="1197276" cy="1427560"/>
            </a:xfrm>
            <a:custGeom>
              <a:avLst/>
              <a:gdLst/>
              <a:ahLst/>
              <a:cxnLst/>
              <a:rect r="r" b="b" t="t" l="l"/>
              <a:pathLst>
                <a:path h="1427560" w="1197276">
                  <a:moveTo>
                    <a:pt x="0" y="0"/>
                  </a:moveTo>
                  <a:lnTo>
                    <a:pt x="1197276" y="0"/>
                  </a:lnTo>
                  <a:lnTo>
                    <a:pt x="1197276" y="1427560"/>
                  </a:lnTo>
                  <a:lnTo>
                    <a:pt x="0" y="1427560"/>
                  </a:lnTo>
                  <a:close/>
                </a:path>
              </a:pathLst>
            </a:custGeom>
            <a:solidFill>
              <a:srgbClr val="FFFFFF"/>
            </a:solidFill>
            <a:ln w="9525" cap="sq">
              <a:solidFill>
                <a:srgbClr val="6A3F21"/>
              </a:solidFill>
              <a:prstDash val="solid"/>
              <a:miter/>
            </a:ln>
          </p:spPr>
        </p:sp>
        <p:sp>
          <p:nvSpPr>
            <p:cNvPr name="TextBox 7" id="7"/>
            <p:cNvSpPr txBox="true"/>
            <p:nvPr/>
          </p:nvSpPr>
          <p:spPr>
            <a:xfrm>
              <a:off x="0" y="-47625"/>
              <a:ext cx="1197276" cy="1475185"/>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96092" y="5143500"/>
            <a:ext cx="3811123" cy="3623499"/>
          </a:xfrm>
          <a:custGeom>
            <a:avLst/>
            <a:gdLst/>
            <a:ahLst/>
            <a:cxnLst/>
            <a:rect r="r" b="b" t="t" l="l"/>
            <a:pathLst>
              <a:path h="3623499" w="3811123">
                <a:moveTo>
                  <a:pt x="0" y="0"/>
                </a:moveTo>
                <a:lnTo>
                  <a:pt x="3811123" y="0"/>
                </a:lnTo>
                <a:lnTo>
                  <a:pt x="3811123" y="3623499"/>
                </a:lnTo>
                <a:lnTo>
                  <a:pt x="0" y="36234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2713393" y="3762222"/>
            <a:ext cx="4545907" cy="5496078"/>
            <a:chOff x="0" y="0"/>
            <a:chExt cx="1197276" cy="1447527"/>
          </a:xfrm>
        </p:grpSpPr>
        <p:sp>
          <p:nvSpPr>
            <p:cNvPr name="Freeform 10" id="10"/>
            <p:cNvSpPr/>
            <p:nvPr/>
          </p:nvSpPr>
          <p:spPr>
            <a:xfrm flipH="false" flipV="false" rot="0">
              <a:off x="0" y="0"/>
              <a:ext cx="1197276" cy="1447527"/>
            </a:xfrm>
            <a:custGeom>
              <a:avLst/>
              <a:gdLst/>
              <a:ahLst/>
              <a:cxnLst/>
              <a:rect r="r" b="b" t="t" l="l"/>
              <a:pathLst>
                <a:path h="1447527" w="1197276">
                  <a:moveTo>
                    <a:pt x="0" y="0"/>
                  </a:moveTo>
                  <a:lnTo>
                    <a:pt x="1197276" y="0"/>
                  </a:lnTo>
                  <a:lnTo>
                    <a:pt x="1197276" y="1447527"/>
                  </a:lnTo>
                  <a:lnTo>
                    <a:pt x="0" y="1447527"/>
                  </a:lnTo>
                  <a:close/>
                </a:path>
              </a:pathLst>
            </a:custGeom>
            <a:solidFill>
              <a:srgbClr val="FFFFFF"/>
            </a:solidFill>
            <a:ln w="9525" cap="sq">
              <a:solidFill>
                <a:srgbClr val="6A3F21"/>
              </a:solidFill>
              <a:prstDash val="solid"/>
              <a:miter/>
            </a:ln>
          </p:spPr>
        </p:sp>
        <p:sp>
          <p:nvSpPr>
            <p:cNvPr name="TextBox 11" id="11"/>
            <p:cNvSpPr txBox="true"/>
            <p:nvPr/>
          </p:nvSpPr>
          <p:spPr>
            <a:xfrm>
              <a:off x="0" y="-47625"/>
              <a:ext cx="1197276" cy="149515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true" flipV="false" rot="0">
            <a:off x="14087149" y="4088588"/>
            <a:ext cx="1798394" cy="4843346"/>
          </a:xfrm>
          <a:custGeom>
            <a:avLst/>
            <a:gdLst/>
            <a:ahLst/>
            <a:cxnLst/>
            <a:rect r="r" b="b" t="t" l="l"/>
            <a:pathLst>
              <a:path h="4843346" w="1798394">
                <a:moveTo>
                  <a:pt x="1798394" y="0"/>
                </a:moveTo>
                <a:lnTo>
                  <a:pt x="0" y="0"/>
                </a:lnTo>
                <a:lnTo>
                  <a:pt x="0" y="4843346"/>
                </a:lnTo>
                <a:lnTo>
                  <a:pt x="1798394" y="4843346"/>
                </a:lnTo>
                <a:lnTo>
                  <a:pt x="17983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2422068" y="928604"/>
            <a:ext cx="13443865" cy="2047888"/>
          </a:xfrm>
          <a:prstGeom prst="rect">
            <a:avLst/>
          </a:prstGeom>
        </p:spPr>
        <p:txBody>
          <a:bodyPr anchor="t" rtlCol="false" tIns="0" lIns="0" bIns="0" rIns="0">
            <a:spAutoFit/>
          </a:bodyPr>
          <a:lstStyle/>
          <a:p>
            <a:pPr algn="ctr">
              <a:lnSpc>
                <a:spcPts val="16799"/>
              </a:lnSpc>
            </a:pPr>
            <a:r>
              <a:rPr lang="en-US" sz="11999" b="true">
                <a:solidFill>
                  <a:srgbClr val="4A3222"/>
                </a:solidFill>
                <a:latin typeface="Amatic SC Bold"/>
                <a:ea typeface="Amatic SC Bold"/>
                <a:cs typeface="Amatic SC Bold"/>
                <a:sym typeface="Amatic SC Bold"/>
              </a:rPr>
              <a:t>as the subject of a sentence</a:t>
            </a:r>
          </a:p>
        </p:txBody>
      </p:sp>
      <p:sp>
        <p:nvSpPr>
          <p:cNvPr name="TextBox 14" id="14"/>
          <p:cNvSpPr txBox="true"/>
          <p:nvPr/>
        </p:nvSpPr>
        <p:spPr>
          <a:xfrm rot="0">
            <a:off x="6162502" y="3676497"/>
            <a:ext cx="6078131" cy="1552577"/>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a:t>
            </a:r>
            <a:r>
              <a:rPr lang="en-US" sz="4499" b="true">
                <a:solidFill>
                  <a:srgbClr val="473325"/>
                </a:solidFill>
                <a:latin typeface="Glacial Indifference Bold"/>
                <a:ea typeface="Glacial Indifference Bold"/>
                <a:cs typeface="Glacial Indifference Bold"/>
                <a:sym typeface="Glacial Indifference Bold"/>
              </a:rPr>
              <a:t>Riding</a:t>
            </a:r>
            <a:r>
              <a:rPr lang="en-US" sz="4499">
                <a:solidFill>
                  <a:srgbClr val="473325"/>
                </a:solidFill>
                <a:latin typeface="Glacial Indifference"/>
                <a:ea typeface="Glacial Indifference"/>
                <a:cs typeface="Glacial Indifference"/>
                <a:sym typeface="Glacial Indifference"/>
              </a:rPr>
              <a:t> my bike is one of my favorite activities.”</a:t>
            </a:r>
          </a:p>
        </p:txBody>
      </p:sp>
      <p:sp>
        <p:nvSpPr>
          <p:cNvPr name="TextBox 15" id="15"/>
          <p:cNvSpPr txBox="true"/>
          <p:nvPr/>
        </p:nvSpPr>
        <p:spPr>
          <a:xfrm rot="0">
            <a:off x="6104935" y="5798207"/>
            <a:ext cx="6078131" cy="3133727"/>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a:t>
            </a:r>
            <a:r>
              <a:rPr lang="en-US" sz="4499" b="true">
                <a:solidFill>
                  <a:srgbClr val="473325"/>
                </a:solidFill>
                <a:latin typeface="Glacial Indifference Bold"/>
                <a:ea typeface="Glacial Indifference Bold"/>
                <a:cs typeface="Glacial Indifference Bold"/>
                <a:sym typeface="Glacial Indifference Bold"/>
              </a:rPr>
              <a:t>Taking</a:t>
            </a:r>
            <a:r>
              <a:rPr lang="en-US" sz="4499">
                <a:solidFill>
                  <a:srgbClr val="473325"/>
                </a:solidFill>
                <a:latin typeface="Glacial Indifference"/>
                <a:ea typeface="Glacial Indifference"/>
                <a:cs typeface="Glacial Indifference"/>
                <a:sym typeface="Glacial Indifference"/>
              </a:rPr>
              <a:t> the bus to school is more convenient than driving in rush hour traffic.”</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2076297"/>
            <a:chOff x="0" y="0"/>
            <a:chExt cx="4274726" cy="546844"/>
          </a:xfrm>
        </p:grpSpPr>
        <p:sp>
          <p:nvSpPr>
            <p:cNvPr name="Freeform 3" id="3"/>
            <p:cNvSpPr/>
            <p:nvPr/>
          </p:nvSpPr>
          <p:spPr>
            <a:xfrm flipH="false" flipV="false" rot="0">
              <a:off x="0" y="0"/>
              <a:ext cx="4274726" cy="546844"/>
            </a:xfrm>
            <a:custGeom>
              <a:avLst/>
              <a:gdLst/>
              <a:ahLst/>
              <a:cxnLst/>
              <a:rect r="r" b="b" t="t" l="l"/>
              <a:pathLst>
                <a:path h="546844" w="4274726">
                  <a:moveTo>
                    <a:pt x="0" y="0"/>
                  </a:moveTo>
                  <a:lnTo>
                    <a:pt x="4274726" y="0"/>
                  </a:lnTo>
                  <a:lnTo>
                    <a:pt x="4274726" y="546844"/>
                  </a:lnTo>
                  <a:lnTo>
                    <a:pt x="0" y="546844"/>
                  </a:lnTo>
                  <a:close/>
                </a:path>
              </a:pathLst>
            </a:custGeom>
            <a:solidFill>
              <a:srgbClr val="FFFFFF"/>
            </a:solidFill>
            <a:ln w="9525" cap="sq">
              <a:solidFill>
                <a:srgbClr val="6A3F21"/>
              </a:solidFill>
              <a:prstDash val="solid"/>
              <a:miter/>
            </a:ln>
          </p:spPr>
        </p:sp>
        <p:sp>
          <p:nvSpPr>
            <p:cNvPr name="TextBox 4" id="4"/>
            <p:cNvSpPr txBox="true"/>
            <p:nvPr/>
          </p:nvSpPr>
          <p:spPr>
            <a:xfrm>
              <a:off x="0" y="-47625"/>
              <a:ext cx="4274726" cy="59446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3762222"/>
            <a:ext cx="16230600" cy="5420265"/>
            <a:chOff x="0" y="0"/>
            <a:chExt cx="4274726" cy="1427560"/>
          </a:xfrm>
        </p:grpSpPr>
        <p:sp>
          <p:nvSpPr>
            <p:cNvPr name="Freeform 6" id="6"/>
            <p:cNvSpPr/>
            <p:nvPr/>
          </p:nvSpPr>
          <p:spPr>
            <a:xfrm flipH="false" flipV="false" rot="0">
              <a:off x="0" y="0"/>
              <a:ext cx="4274726" cy="1427560"/>
            </a:xfrm>
            <a:custGeom>
              <a:avLst/>
              <a:gdLst/>
              <a:ahLst/>
              <a:cxnLst/>
              <a:rect r="r" b="b" t="t" l="l"/>
              <a:pathLst>
                <a:path h="1427560" w="4274726">
                  <a:moveTo>
                    <a:pt x="0" y="0"/>
                  </a:moveTo>
                  <a:lnTo>
                    <a:pt x="4274726" y="0"/>
                  </a:lnTo>
                  <a:lnTo>
                    <a:pt x="4274726" y="1427560"/>
                  </a:lnTo>
                  <a:lnTo>
                    <a:pt x="0" y="1427560"/>
                  </a:lnTo>
                  <a:close/>
                </a:path>
              </a:pathLst>
            </a:custGeom>
            <a:solidFill>
              <a:srgbClr val="FFFFFF"/>
            </a:solidFill>
            <a:ln w="9525" cap="sq">
              <a:solidFill>
                <a:srgbClr val="6A3F21"/>
              </a:solidFill>
              <a:prstDash val="solid"/>
              <a:miter/>
            </a:ln>
          </p:spPr>
        </p:sp>
        <p:sp>
          <p:nvSpPr>
            <p:cNvPr name="TextBox 7" id="7"/>
            <p:cNvSpPr txBox="true"/>
            <p:nvPr/>
          </p:nvSpPr>
          <p:spPr>
            <a:xfrm>
              <a:off x="0" y="-47625"/>
              <a:ext cx="4274726" cy="1475185"/>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069751" y="6472354"/>
            <a:ext cx="4892602" cy="4071216"/>
          </a:xfrm>
          <a:custGeom>
            <a:avLst/>
            <a:gdLst/>
            <a:ahLst/>
            <a:cxnLst/>
            <a:rect r="r" b="b" t="t" l="l"/>
            <a:pathLst>
              <a:path h="4071216" w="4892602">
                <a:moveTo>
                  <a:pt x="0" y="0"/>
                </a:moveTo>
                <a:lnTo>
                  <a:pt x="4892601" y="0"/>
                </a:lnTo>
                <a:lnTo>
                  <a:pt x="4892601" y="4071216"/>
                </a:lnTo>
                <a:lnTo>
                  <a:pt x="0" y="40712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2422068" y="928604"/>
            <a:ext cx="13443865" cy="2047888"/>
          </a:xfrm>
          <a:prstGeom prst="rect">
            <a:avLst/>
          </a:prstGeom>
        </p:spPr>
        <p:txBody>
          <a:bodyPr anchor="t" rtlCol="false" tIns="0" lIns="0" bIns="0" rIns="0">
            <a:spAutoFit/>
          </a:bodyPr>
          <a:lstStyle/>
          <a:p>
            <a:pPr algn="ctr">
              <a:lnSpc>
                <a:spcPts val="16799"/>
              </a:lnSpc>
            </a:pPr>
            <a:r>
              <a:rPr lang="en-US" sz="11999" b="true">
                <a:solidFill>
                  <a:srgbClr val="4A3222"/>
                </a:solidFill>
                <a:latin typeface="Amatic SC Bold"/>
                <a:ea typeface="Amatic SC Bold"/>
                <a:cs typeface="Amatic SC Bold"/>
                <a:sym typeface="Amatic SC Bold"/>
              </a:rPr>
              <a:t>after some verbs</a:t>
            </a:r>
          </a:p>
        </p:txBody>
      </p:sp>
      <p:sp>
        <p:nvSpPr>
          <p:cNvPr name="TextBox 10" id="10"/>
          <p:cNvSpPr txBox="true"/>
          <p:nvPr/>
        </p:nvSpPr>
        <p:spPr>
          <a:xfrm rot="0">
            <a:off x="1255008" y="3929062"/>
            <a:ext cx="15777983" cy="2343152"/>
          </a:xfrm>
          <a:prstGeom prst="rect">
            <a:avLst/>
          </a:prstGeom>
        </p:spPr>
        <p:txBody>
          <a:bodyPr anchor="t" rtlCol="false" tIns="0" lIns="0" bIns="0" rIns="0">
            <a:spAutoFit/>
          </a:bodyPr>
          <a:lstStyle/>
          <a:p>
            <a:pPr algn="l">
              <a:lnSpc>
                <a:spcPts val="6299"/>
              </a:lnSpc>
            </a:pPr>
            <a:r>
              <a:rPr lang="en-US" sz="4499" b="true">
                <a:solidFill>
                  <a:srgbClr val="473325"/>
                </a:solidFill>
                <a:latin typeface="Glacial Indifference Bold"/>
                <a:ea typeface="Glacial Indifference Bold"/>
                <a:cs typeface="Glacial Indifference Bold"/>
                <a:sym typeface="Glacial Indifference Bold"/>
              </a:rPr>
              <a:t>Common verbs which take the gerund include:</a:t>
            </a:r>
            <a:r>
              <a:rPr lang="en-US" sz="4499">
                <a:solidFill>
                  <a:srgbClr val="473325"/>
                </a:solidFill>
                <a:latin typeface="Glacial Indifference"/>
                <a:ea typeface="Glacial Indifference"/>
                <a:cs typeface="Glacial Indifference"/>
                <a:sym typeface="Glacial Indifference"/>
              </a:rPr>
              <a:t> admit, avoid, deny, dislike, enjoy, feel like, finish, hate, keep, like, love, mind, miss, practise, prefer, recommend, spend time, stop, suggest.</a:t>
            </a:r>
          </a:p>
        </p:txBody>
      </p:sp>
      <p:sp>
        <p:nvSpPr>
          <p:cNvPr name="TextBox 11" id="11"/>
          <p:cNvSpPr txBox="true"/>
          <p:nvPr/>
        </p:nvSpPr>
        <p:spPr>
          <a:xfrm rot="0">
            <a:off x="1481317" y="6955386"/>
            <a:ext cx="8765690" cy="762002"/>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“I </a:t>
            </a:r>
            <a:r>
              <a:rPr lang="en-US" sz="4499" b="true">
                <a:solidFill>
                  <a:srgbClr val="473325"/>
                </a:solidFill>
                <a:latin typeface="Glacial Indifference Bold"/>
                <a:ea typeface="Glacial Indifference Bold"/>
                <a:cs typeface="Glacial Indifference Bold"/>
                <a:sym typeface="Glacial Indifference Bold"/>
              </a:rPr>
              <a:t>don’t mind getting </a:t>
            </a:r>
            <a:r>
              <a:rPr lang="en-US" sz="4499">
                <a:solidFill>
                  <a:srgbClr val="473325"/>
                </a:solidFill>
                <a:latin typeface="Glacial Indifference"/>
                <a:ea typeface="Glacial Indifference"/>
                <a:cs typeface="Glacial Indifference"/>
                <a:sym typeface="Glacial Indifference"/>
              </a:rPr>
              <a:t>up early”</a:t>
            </a:r>
          </a:p>
        </p:txBody>
      </p:sp>
      <p:sp>
        <p:nvSpPr>
          <p:cNvPr name="TextBox 12" id="12"/>
          <p:cNvSpPr txBox="true"/>
          <p:nvPr/>
        </p:nvSpPr>
        <p:spPr>
          <a:xfrm rot="0">
            <a:off x="1481317" y="8084099"/>
            <a:ext cx="9946163" cy="762002"/>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“I </a:t>
            </a:r>
            <a:r>
              <a:rPr lang="en-US" sz="4499" b="true">
                <a:solidFill>
                  <a:srgbClr val="473325"/>
                </a:solidFill>
                <a:latin typeface="Glacial Indifference Bold"/>
                <a:ea typeface="Glacial Indifference Bold"/>
                <a:cs typeface="Glacial Indifference Bold"/>
                <a:sym typeface="Glacial Indifference Bold"/>
              </a:rPr>
              <a:t>hate not being </a:t>
            </a:r>
            <a:r>
              <a:rPr lang="en-US" sz="4499">
                <a:solidFill>
                  <a:srgbClr val="473325"/>
                </a:solidFill>
                <a:latin typeface="Glacial Indifference"/>
                <a:ea typeface="Glacial Indifference"/>
                <a:cs typeface="Glacial Indifference"/>
                <a:sym typeface="Glacial Indifference"/>
              </a:rPr>
              <a:t>on time for things”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sp>
        <p:nvSpPr>
          <p:cNvPr name="Freeform 2" id="2"/>
          <p:cNvSpPr/>
          <p:nvPr/>
        </p:nvSpPr>
        <p:spPr>
          <a:xfrm flipH="false" flipV="false" rot="0">
            <a:off x="0" y="3525672"/>
            <a:ext cx="6699149" cy="7181839"/>
          </a:xfrm>
          <a:custGeom>
            <a:avLst/>
            <a:gdLst/>
            <a:ahLst/>
            <a:cxnLst/>
            <a:rect r="r" b="b" t="t" l="l"/>
            <a:pathLst>
              <a:path h="7181839" w="6699149">
                <a:moveTo>
                  <a:pt x="0" y="0"/>
                </a:moveTo>
                <a:lnTo>
                  <a:pt x="6699149" y="0"/>
                </a:lnTo>
                <a:lnTo>
                  <a:pt x="6699149" y="7181839"/>
                </a:lnTo>
                <a:lnTo>
                  <a:pt x="0" y="71818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72915" y="33803"/>
            <a:ext cx="16542169" cy="3491869"/>
          </a:xfrm>
          <a:prstGeom prst="rect">
            <a:avLst/>
          </a:prstGeom>
        </p:spPr>
        <p:txBody>
          <a:bodyPr anchor="t" rtlCol="false" tIns="0" lIns="0" bIns="0" rIns="0">
            <a:spAutoFit/>
          </a:bodyPr>
          <a:lstStyle/>
          <a:p>
            <a:pPr algn="ctr">
              <a:lnSpc>
                <a:spcPts val="28559"/>
              </a:lnSpc>
            </a:pPr>
            <a:r>
              <a:rPr lang="en-US" sz="20399" b="true">
                <a:solidFill>
                  <a:srgbClr val="4A3222"/>
                </a:solidFill>
                <a:latin typeface="Amatic SC Bold"/>
                <a:ea typeface="Amatic SC Bold"/>
                <a:cs typeface="Amatic SC Bold"/>
                <a:sym typeface="Amatic SC Bold"/>
              </a:rPr>
              <a:t>The infinitive with to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2087358"/>
            <a:chOff x="0" y="0"/>
            <a:chExt cx="4274726" cy="549757"/>
          </a:xfrm>
        </p:grpSpPr>
        <p:sp>
          <p:nvSpPr>
            <p:cNvPr name="Freeform 3" id="3"/>
            <p:cNvSpPr/>
            <p:nvPr/>
          </p:nvSpPr>
          <p:spPr>
            <a:xfrm flipH="false" flipV="false" rot="0">
              <a:off x="0" y="0"/>
              <a:ext cx="4274726" cy="549757"/>
            </a:xfrm>
            <a:custGeom>
              <a:avLst/>
              <a:gdLst/>
              <a:ahLst/>
              <a:cxnLst/>
              <a:rect r="r" b="b" t="t" l="l"/>
              <a:pathLst>
                <a:path h="549757" w="4274726">
                  <a:moveTo>
                    <a:pt x="0" y="0"/>
                  </a:moveTo>
                  <a:lnTo>
                    <a:pt x="4274726" y="0"/>
                  </a:lnTo>
                  <a:lnTo>
                    <a:pt x="4274726" y="549757"/>
                  </a:lnTo>
                  <a:lnTo>
                    <a:pt x="0" y="549757"/>
                  </a:lnTo>
                  <a:close/>
                </a:path>
              </a:pathLst>
            </a:custGeom>
            <a:solidFill>
              <a:srgbClr val="FFFFFF"/>
            </a:solidFill>
            <a:ln w="9525" cap="sq">
              <a:solidFill>
                <a:srgbClr val="6A3F21"/>
              </a:solidFill>
              <a:prstDash val="solid"/>
              <a:miter/>
            </a:ln>
          </p:spPr>
        </p:sp>
        <p:sp>
          <p:nvSpPr>
            <p:cNvPr name="TextBox 4" id="4"/>
            <p:cNvSpPr txBox="true"/>
            <p:nvPr/>
          </p:nvSpPr>
          <p:spPr>
            <a:xfrm>
              <a:off x="0" y="-47625"/>
              <a:ext cx="4274726" cy="59738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3468484"/>
            <a:ext cx="6581791" cy="5789816"/>
            <a:chOff x="0" y="0"/>
            <a:chExt cx="1733476" cy="1524890"/>
          </a:xfrm>
        </p:grpSpPr>
        <p:sp>
          <p:nvSpPr>
            <p:cNvPr name="Freeform 6" id="6"/>
            <p:cNvSpPr/>
            <p:nvPr/>
          </p:nvSpPr>
          <p:spPr>
            <a:xfrm flipH="false" flipV="false" rot="0">
              <a:off x="0" y="0"/>
              <a:ext cx="1733476" cy="1524890"/>
            </a:xfrm>
            <a:custGeom>
              <a:avLst/>
              <a:gdLst/>
              <a:ahLst/>
              <a:cxnLst/>
              <a:rect r="r" b="b" t="t" l="l"/>
              <a:pathLst>
                <a:path h="1524890" w="1733476">
                  <a:moveTo>
                    <a:pt x="0" y="0"/>
                  </a:moveTo>
                  <a:lnTo>
                    <a:pt x="1733476" y="0"/>
                  </a:lnTo>
                  <a:lnTo>
                    <a:pt x="1733476" y="1524890"/>
                  </a:lnTo>
                  <a:lnTo>
                    <a:pt x="0" y="1524890"/>
                  </a:lnTo>
                  <a:close/>
                </a:path>
              </a:pathLst>
            </a:custGeom>
            <a:solidFill>
              <a:srgbClr val="FFFFFF"/>
            </a:solidFill>
            <a:ln w="9525" cap="sq">
              <a:solidFill>
                <a:srgbClr val="6A3F21"/>
              </a:solidFill>
              <a:prstDash val="solid"/>
              <a:miter/>
            </a:ln>
          </p:spPr>
        </p:sp>
        <p:sp>
          <p:nvSpPr>
            <p:cNvPr name="TextBox 7" id="7"/>
            <p:cNvSpPr txBox="true"/>
            <p:nvPr/>
          </p:nvSpPr>
          <p:spPr>
            <a:xfrm>
              <a:off x="0" y="-47625"/>
              <a:ext cx="1733476" cy="1572515"/>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2733470" y="3574291"/>
            <a:ext cx="3172250" cy="5578202"/>
          </a:xfrm>
          <a:custGeom>
            <a:avLst/>
            <a:gdLst/>
            <a:ahLst/>
            <a:cxnLst/>
            <a:rect r="r" b="b" t="t" l="l"/>
            <a:pathLst>
              <a:path h="5578202" w="3172250">
                <a:moveTo>
                  <a:pt x="0" y="0"/>
                </a:moveTo>
                <a:lnTo>
                  <a:pt x="3172251" y="0"/>
                </a:lnTo>
                <a:lnTo>
                  <a:pt x="3172251" y="5578202"/>
                </a:lnTo>
                <a:lnTo>
                  <a:pt x="0" y="55782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934135"/>
            <a:ext cx="16033730" cy="2047888"/>
          </a:xfrm>
          <a:prstGeom prst="rect">
            <a:avLst/>
          </a:prstGeom>
        </p:spPr>
        <p:txBody>
          <a:bodyPr anchor="t" rtlCol="false" tIns="0" lIns="0" bIns="0" rIns="0">
            <a:spAutoFit/>
          </a:bodyPr>
          <a:lstStyle/>
          <a:p>
            <a:pPr algn="ctr">
              <a:lnSpc>
                <a:spcPts val="16799"/>
              </a:lnSpc>
            </a:pPr>
            <a:r>
              <a:rPr lang="en-US" sz="11999" b="true">
                <a:solidFill>
                  <a:srgbClr val="4A3222"/>
                </a:solidFill>
                <a:latin typeface="Amatic SC Bold"/>
                <a:ea typeface="Amatic SC Bold"/>
                <a:cs typeface="Amatic SC Bold"/>
                <a:sym typeface="Amatic SC Bold"/>
              </a:rPr>
              <a:t>to express a reason or purpose</a:t>
            </a:r>
          </a:p>
        </p:txBody>
      </p:sp>
      <p:sp>
        <p:nvSpPr>
          <p:cNvPr name="TextBox 10" id="10"/>
          <p:cNvSpPr txBox="true"/>
          <p:nvPr/>
        </p:nvSpPr>
        <p:spPr>
          <a:xfrm rot="0">
            <a:off x="8493610" y="4092764"/>
            <a:ext cx="8765690" cy="1552577"/>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“Claudia does exercise </a:t>
            </a:r>
            <a:r>
              <a:rPr lang="en-US" sz="4499" b="true">
                <a:solidFill>
                  <a:srgbClr val="473325"/>
                </a:solidFill>
                <a:latin typeface="Glacial Indifference Bold"/>
                <a:ea typeface="Glacial Indifference Bold"/>
                <a:cs typeface="Glacial Indifference Bold"/>
                <a:sym typeface="Glacial Indifference Bold"/>
              </a:rPr>
              <a:t>to have more energy”</a:t>
            </a:r>
          </a:p>
        </p:txBody>
      </p:sp>
      <p:sp>
        <p:nvSpPr>
          <p:cNvPr name="TextBox 11" id="11"/>
          <p:cNvSpPr txBox="true"/>
          <p:nvPr/>
        </p:nvSpPr>
        <p:spPr>
          <a:xfrm rot="0">
            <a:off x="8493610" y="6626416"/>
            <a:ext cx="8378734" cy="1552577"/>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“She is studying hard </a:t>
            </a:r>
            <a:r>
              <a:rPr lang="en-US" sz="4499" b="true">
                <a:solidFill>
                  <a:srgbClr val="473325"/>
                </a:solidFill>
                <a:latin typeface="Glacial Indifference Bold"/>
                <a:ea typeface="Glacial Indifference Bold"/>
                <a:cs typeface="Glacial Indifference Bold"/>
                <a:sym typeface="Glacial Indifference Bold"/>
              </a:rPr>
              <a:t>to pass all her tests”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2087358"/>
            <a:chOff x="0" y="0"/>
            <a:chExt cx="4274726" cy="549757"/>
          </a:xfrm>
        </p:grpSpPr>
        <p:sp>
          <p:nvSpPr>
            <p:cNvPr name="Freeform 3" id="3"/>
            <p:cNvSpPr/>
            <p:nvPr/>
          </p:nvSpPr>
          <p:spPr>
            <a:xfrm flipH="false" flipV="false" rot="0">
              <a:off x="0" y="0"/>
              <a:ext cx="4274726" cy="549757"/>
            </a:xfrm>
            <a:custGeom>
              <a:avLst/>
              <a:gdLst/>
              <a:ahLst/>
              <a:cxnLst/>
              <a:rect r="r" b="b" t="t" l="l"/>
              <a:pathLst>
                <a:path h="549757" w="4274726">
                  <a:moveTo>
                    <a:pt x="0" y="0"/>
                  </a:moveTo>
                  <a:lnTo>
                    <a:pt x="4274726" y="0"/>
                  </a:lnTo>
                  <a:lnTo>
                    <a:pt x="4274726" y="549757"/>
                  </a:lnTo>
                  <a:lnTo>
                    <a:pt x="0" y="549757"/>
                  </a:lnTo>
                  <a:close/>
                </a:path>
              </a:pathLst>
            </a:custGeom>
            <a:solidFill>
              <a:srgbClr val="FFFFFF"/>
            </a:solidFill>
            <a:ln w="9525" cap="sq">
              <a:solidFill>
                <a:srgbClr val="6A3F21"/>
              </a:solidFill>
              <a:prstDash val="solid"/>
              <a:miter/>
            </a:ln>
          </p:spPr>
        </p:sp>
        <p:sp>
          <p:nvSpPr>
            <p:cNvPr name="TextBox 4" id="4"/>
            <p:cNvSpPr txBox="true"/>
            <p:nvPr/>
          </p:nvSpPr>
          <p:spPr>
            <a:xfrm>
              <a:off x="0" y="-47625"/>
              <a:ext cx="4274726" cy="59738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7077144" y="934135"/>
            <a:ext cx="9901970" cy="2047888"/>
          </a:xfrm>
          <a:prstGeom prst="rect">
            <a:avLst/>
          </a:prstGeom>
        </p:spPr>
        <p:txBody>
          <a:bodyPr anchor="t" rtlCol="false" tIns="0" lIns="0" bIns="0" rIns="0">
            <a:spAutoFit/>
          </a:bodyPr>
          <a:lstStyle/>
          <a:p>
            <a:pPr algn="l">
              <a:lnSpc>
                <a:spcPts val="16799"/>
              </a:lnSpc>
            </a:pPr>
            <a:r>
              <a:rPr lang="en-US" sz="11999" b="true">
                <a:solidFill>
                  <a:srgbClr val="4A3222"/>
                </a:solidFill>
                <a:latin typeface="Amatic SC Bold"/>
                <a:ea typeface="Amatic SC Bold"/>
                <a:cs typeface="Amatic SC Bold"/>
                <a:sym typeface="Amatic SC Bold"/>
              </a:rPr>
              <a:t>After adjectives</a:t>
            </a:r>
          </a:p>
        </p:txBody>
      </p:sp>
      <p:sp>
        <p:nvSpPr>
          <p:cNvPr name="TextBox 6" id="6"/>
          <p:cNvSpPr txBox="true"/>
          <p:nvPr/>
        </p:nvSpPr>
        <p:spPr>
          <a:xfrm rot="0">
            <a:off x="7077144" y="4719637"/>
            <a:ext cx="10182156" cy="762002"/>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“This recipe is very </a:t>
            </a:r>
            <a:r>
              <a:rPr lang="en-US" sz="4499" b="true">
                <a:solidFill>
                  <a:srgbClr val="473325"/>
                </a:solidFill>
                <a:latin typeface="Glacial Indifference Bold"/>
                <a:ea typeface="Glacial Indifference Bold"/>
                <a:cs typeface="Glacial Indifference Bold"/>
                <a:sym typeface="Glacial Indifference Bold"/>
              </a:rPr>
              <a:t>easy to make</a:t>
            </a:r>
            <a:r>
              <a:rPr lang="en-US" sz="4499">
                <a:solidFill>
                  <a:srgbClr val="473325"/>
                </a:solidFill>
                <a:latin typeface="Glacial Indifference"/>
                <a:ea typeface="Glacial Indifference"/>
                <a:cs typeface="Glacial Indifference"/>
                <a:sym typeface="Glacial Indifference"/>
              </a:rPr>
              <a:t>”</a:t>
            </a:r>
          </a:p>
        </p:txBody>
      </p:sp>
      <p:sp>
        <p:nvSpPr>
          <p:cNvPr name="TextBox 7" id="7"/>
          <p:cNvSpPr txBox="true"/>
          <p:nvPr/>
        </p:nvSpPr>
        <p:spPr>
          <a:xfrm rot="0">
            <a:off x="7077144" y="6001939"/>
            <a:ext cx="10182156" cy="1552577"/>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“Be </a:t>
            </a:r>
            <a:r>
              <a:rPr lang="en-US" sz="4499" b="true">
                <a:solidFill>
                  <a:srgbClr val="473325"/>
                </a:solidFill>
                <a:latin typeface="Glacial Indifference Bold"/>
                <a:ea typeface="Glacial Indifference Bold"/>
                <a:cs typeface="Glacial Indifference Bold"/>
                <a:sym typeface="Glacial Indifference Bold"/>
              </a:rPr>
              <a:t>careful not to burn </a:t>
            </a:r>
            <a:r>
              <a:rPr lang="en-US" sz="4499">
                <a:solidFill>
                  <a:srgbClr val="473325"/>
                </a:solidFill>
                <a:latin typeface="Glacial Indifference"/>
                <a:ea typeface="Glacial Indifference"/>
                <a:cs typeface="Glacial Indifference"/>
                <a:sym typeface="Glacial Indifference"/>
              </a:rPr>
              <a:t>yourself when cooking”</a:t>
            </a:r>
          </a:p>
        </p:txBody>
      </p:sp>
      <p:sp>
        <p:nvSpPr>
          <p:cNvPr name="Freeform 8" id="8"/>
          <p:cNvSpPr/>
          <p:nvPr/>
        </p:nvSpPr>
        <p:spPr>
          <a:xfrm flipH="false" flipV="false" rot="0">
            <a:off x="254789" y="1162735"/>
            <a:ext cx="4316657" cy="9124265"/>
          </a:xfrm>
          <a:custGeom>
            <a:avLst/>
            <a:gdLst/>
            <a:ahLst/>
            <a:cxnLst/>
            <a:rect r="r" b="b" t="t" l="l"/>
            <a:pathLst>
              <a:path h="9124265" w="4316657">
                <a:moveTo>
                  <a:pt x="0" y="0"/>
                </a:moveTo>
                <a:lnTo>
                  <a:pt x="4316657" y="0"/>
                </a:lnTo>
                <a:lnTo>
                  <a:pt x="4316657" y="9124265"/>
                </a:lnTo>
                <a:lnTo>
                  <a:pt x="0" y="91242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grpSp>
        <p:nvGrpSpPr>
          <p:cNvPr name="Group 2" id="2"/>
          <p:cNvGrpSpPr/>
          <p:nvPr/>
        </p:nvGrpSpPr>
        <p:grpSpPr>
          <a:xfrm rot="0">
            <a:off x="656627" y="709417"/>
            <a:ext cx="16974746" cy="8868167"/>
            <a:chOff x="0" y="0"/>
            <a:chExt cx="4470715" cy="2335649"/>
          </a:xfrm>
        </p:grpSpPr>
        <p:sp>
          <p:nvSpPr>
            <p:cNvPr name="Freeform 3" id="3"/>
            <p:cNvSpPr/>
            <p:nvPr/>
          </p:nvSpPr>
          <p:spPr>
            <a:xfrm flipH="false" flipV="false" rot="0">
              <a:off x="0" y="0"/>
              <a:ext cx="4470715" cy="2335649"/>
            </a:xfrm>
            <a:custGeom>
              <a:avLst/>
              <a:gdLst/>
              <a:ahLst/>
              <a:cxnLst/>
              <a:rect r="r" b="b" t="t" l="l"/>
              <a:pathLst>
                <a:path h="2335649" w="4470715">
                  <a:moveTo>
                    <a:pt x="0" y="0"/>
                  </a:moveTo>
                  <a:lnTo>
                    <a:pt x="4470715" y="0"/>
                  </a:lnTo>
                  <a:lnTo>
                    <a:pt x="4470715" y="2335649"/>
                  </a:lnTo>
                  <a:lnTo>
                    <a:pt x="0" y="2335649"/>
                  </a:lnTo>
                  <a:close/>
                </a:path>
              </a:pathLst>
            </a:custGeom>
            <a:solidFill>
              <a:srgbClr val="FFFFFF"/>
            </a:solidFill>
            <a:ln w="9525" cap="sq">
              <a:solidFill>
                <a:srgbClr val="6A3F21"/>
              </a:solidFill>
              <a:prstDash val="solid"/>
              <a:miter/>
            </a:ln>
          </p:spPr>
        </p:sp>
        <p:sp>
          <p:nvSpPr>
            <p:cNvPr name="TextBox 4" id="4"/>
            <p:cNvSpPr txBox="true"/>
            <p:nvPr/>
          </p:nvSpPr>
          <p:spPr>
            <a:xfrm>
              <a:off x="0" y="-47625"/>
              <a:ext cx="4470715" cy="23832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369170" y="869058"/>
            <a:ext cx="2890130" cy="8548883"/>
          </a:xfrm>
          <a:custGeom>
            <a:avLst/>
            <a:gdLst/>
            <a:ahLst/>
            <a:cxnLst/>
            <a:rect r="r" b="b" t="t" l="l"/>
            <a:pathLst>
              <a:path h="8548883" w="2890130">
                <a:moveTo>
                  <a:pt x="0" y="0"/>
                </a:moveTo>
                <a:lnTo>
                  <a:pt x="2890130" y="0"/>
                </a:lnTo>
                <a:lnTo>
                  <a:pt x="2890130" y="8548884"/>
                </a:lnTo>
                <a:lnTo>
                  <a:pt x="0" y="85488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481317" y="1186525"/>
            <a:ext cx="12630989" cy="2047888"/>
          </a:xfrm>
          <a:prstGeom prst="rect">
            <a:avLst/>
          </a:prstGeom>
        </p:spPr>
        <p:txBody>
          <a:bodyPr anchor="t" rtlCol="false" tIns="0" lIns="0" bIns="0" rIns="0">
            <a:spAutoFit/>
          </a:bodyPr>
          <a:lstStyle/>
          <a:p>
            <a:pPr algn="l">
              <a:lnSpc>
                <a:spcPts val="16799"/>
              </a:lnSpc>
            </a:pPr>
            <a:r>
              <a:rPr lang="en-US" sz="11999" b="true">
                <a:solidFill>
                  <a:srgbClr val="4A3222"/>
                </a:solidFill>
                <a:latin typeface="Amatic SC Bold"/>
                <a:ea typeface="Amatic SC Bold"/>
                <a:cs typeface="Amatic SC Bold"/>
                <a:sym typeface="Amatic SC Bold"/>
              </a:rPr>
              <a:t>after some verbs</a:t>
            </a:r>
          </a:p>
        </p:txBody>
      </p:sp>
      <p:sp>
        <p:nvSpPr>
          <p:cNvPr name="TextBox 7" id="7"/>
          <p:cNvSpPr txBox="true"/>
          <p:nvPr/>
        </p:nvSpPr>
        <p:spPr>
          <a:xfrm rot="0">
            <a:off x="1481317" y="3459709"/>
            <a:ext cx="12887853" cy="3924302"/>
          </a:xfrm>
          <a:prstGeom prst="rect">
            <a:avLst/>
          </a:prstGeom>
        </p:spPr>
        <p:txBody>
          <a:bodyPr anchor="t" rtlCol="false" tIns="0" lIns="0" bIns="0" rIns="0">
            <a:spAutoFit/>
          </a:bodyPr>
          <a:lstStyle/>
          <a:p>
            <a:pPr algn="l">
              <a:lnSpc>
                <a:spcPts val="6299"/>
              </a:lnSpc>
            </a:pPr>
            <a:r>
              <a:rPr lang="en-US" sz="4499" b="true">
                <a:solidFill>
                  <a:srgbClr val="473325"/>
                </a:solidFill>
                <a:latin typeface="Glacial Indifference Bold"/>
                <a:ea typeface="Glacial Indifference Bold"/>
                <a:cs typeface="Glacial Indifference Bold"/>
                <a:sym typeface="Glacial Indifference Bold"/>
              </a:rPr>
              <a:t>Common verbs which take the infinitive include:</a:t>
            </a:r>
            <a:r>
              <a:rPr lang="en-US" sz="4499">
                <a:solidFill>
                  <a:srgbClr val="473325"/>
                </a:solidFill>
                <a:latin typeface="Glacial Indifference"/>
                <a:ea typeface="Glacial Indifference"/>
                <a:cs typeface="Glacial Indifference"/>
                <a:sym typeface="Glacial Indifference"/>
              </a:rPr>
              <a:t> (can’t) afford, agree, decide, expect, forget, help, hope, learn, need, pretend, promise, refuse, remember, seem, try, want, would like. More verbs take the infinitive than the gerund.</a:t>
            </a:r>
          </a:p>
        </p:txBody>
      </p:sp>
      <p:sp>
        <p:nvSpPr>
          <p:cNvPr name="TextBox 8" id="8"/>
          <p:cNvSpPr txBox="true"/>
          <p:nvPr/>
        </p:nvSpPr>
        <p:spPr>
          <a:xfrm rot="0">
            <a:off x="1481317" y="8139108"/>
            <a:ext cx="12630989" cy="762002"/>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“I </a:t>
            </a:r>
            <a:r>
              <a:rPr lang="en-US" sz="4499" b="true">
                <a:solidFill>
                  <a:srgbClr val="473325"/>
                </a:solidFill>
                <a:latin typeface="Glacial Indifference Bold"/>
                <a:ea typeface="Glacial Indifference Bold"/>
                <a:cs typeface="Glacial Indifference Bold"/>
                <a:sym typeface="Glacial Indifference Bold"/>
              </a:rPr>
              <a:t>can’t afford to buy</a:t>
            </a:r>
            <a:r>
              <a:rPr lang="en-US" sz="4499">
                <a:solidFill>
                  <a:srgbClr val="473325"/>
                </a:solidFill>
                <a:latin typeface="Glacial Indifference"/>
                <a:ea typeface="Glacial Indifference"/>
                <a:cs typeface="Glacial Indifference"/>
                <a:sym typeface="Glacial Indifference"/>
              </a:rPr>
              <a:t> a new phone now”</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2076297"/>
            <a:chOff x="0" y="0"/>
            <a:chExt cx="4274726" cy="546844"/>
          </a:xfrm>
        </p:grpSpPr>
        <p:sp>
          <p:nvSpPr>
            <p:cNvPr name="Freeform 3" id="3"/>
            <p:cNvSpPr/>
            <p:nvPr/>
          </p:nvSpPr>
          <p:spPr>
            <a:xfrm flipH="false" flipV="false" rot="0">
              <a:off x="0" y="0"/>
              <a:ext cx="4274726" cy="546844"/>
            </a:xfrm>
            <a:custGeom>
              <a:avLst/>
              <a:gdLst/>
              <a:ahLst/>
              <a:cxnLst/>
              <a:rect r="r" b="b" t="t" l="l"/>
              <a:pathLst>
                <a:path h="546844" w="4274726">
                  <a:moveTo>
                    <a:pt x="0" y="0"/>
                  </a:moveTo>
                  <a:lnTo>
                    <a:pt x="4274726" y="0"/>
                  </a:lnTo>
                  <a:lnTo>
                    <a:pt x="4274726" y="546844"/>
                  </a:lnTo>
                  <a:lnTo>
                    <a:pt x="0" y="546844"/>
                  </a:lnTo>
                  <a:close/>
                </a:path>
              </a:pathLst>
            </a:custGeom>
            <a:solidFill>
              <a:srgbClr val="FFFFFF"/>
            </a:solidFill>
            <a:ln w="9525" cap="sq">
              <a:solidFill>
                <a:srgbClr val="6A3F21"/>
              </a:solidFill>
              <a:prstDash val="solid"/>
              <a:miter/>
            </a:ln>
          </p:spPr>
        </p:sp>
        <p:sp>
          <p:nvSpPr>
            <p:cNvPr name="TextBox 4" id="4"/>
            <p:cNvSpPr txBox="true"/>
            <p:nvPr/>
          </p:nvSpPr>
          <p:spPr>
            <a:xfrm>
              <a:off x="0" y="-47625"/>
              <a:ext cx="4274726" cy="59446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391658" y="3762222"/>
            <a:ext cx="6867642" cy="5496078"/>
            <a:chOff x="0" y="0"/>
            <a:chExt cx="1808762" cy="1447527"/>
          </a:xfrm>
        </p:grpSpPr>
        <p:sp>
          <p:nvSpPr>
            <p:cNvPr name="Freeform 6" id="6"/>
            <p:cNvSpPr/>
            <p:nvPr/>
          </p:nvSpPr>
          <p:spPr>
            <a:xfrm flipH="false" flipV="false" rot="0">
              <a:off x="0" y="0"/>
              <a:ext cx="1808762" cy="1447527"/>
            </a:xfrm>
            <a:custGeom>
              <a:avLst/>
              <a:gdLst/>
              <a:ahLst/>
              <a:cxnLst/>
              <a:rect r="r" b="b" t="t" l="l"/>
              <a:pathLst>
                <a:path h="1447527" w="1808762">
                  <a:moveTo>
                    <a:pt x="0" y="0"/>
                  </a:moveTo>
                  <a:lnTo>
                    <a:pt x="1808762" y="0"/>
                  </a:lnTo>
                  <a:lnTo>
                    <a:pt x="1808762" y="1447527"/>
                  </a:lnTo>
                  <a:lnTo>
                    <a:pt x="0" y="1447527"/>
                  </a:lnTo>
                  <a:close/>
                </a:path>
              </a:pathLst>
            </a:custGeom>
            <a:solidFill>
              <a:srgbClr val="FFFFFF"/>
            </a:solidFill>
            <a:ln w="9525" cap="sq">
              <a:solidFill>
                <a:srgbClr val="6A3F21"/>
              </a:solidFill>
              <a:prstDash val="solid"/>
              <a:miter/>
            </a:ln>
          </p:spPr>
        </p:sp>
        <p:sp>
          <p:nvSpPr>
            <p:cNvPr name="TextBox 7" id="7"/>
            <p:cNvSpPr txBox="true"/>
            <p:nvPr/>
          </p:nvSpPr>
          <p:spPr>
            <a:xfrm>
              <a:off x="0" y="-47625"/>
              <a:ext cx="1808762" cy="1495152"/>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1031093" y="3962780"/>
            <a:ext cx="5588772" cy="5094962"/>
          </a:xfrm>
          <a:custGeom>
            <a:avLst/>
            <a:gdLst/>
            <a:ahLst/>
            <a:cxnLst/>
            <a:rect r="r" b="b" t="t" l="l"/>
            <a:pathLst>
              <a:path h="5094962" w="5588772">
                <a:moveTo>
                  <a:pt x="0" y="0"/>
                </a:moveTo>
                <a:lnTo>
                  <a:pt x="5588772" y="0"/>
                </a:lnTo>
                <a:lnTo>
                  <a:pt x="5588772" y="5094962"/>
                </a:lnTo>
                <a:lnTo>
                  <a:pt x="0" y="50949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928604"/>
            <a:ext cx="16230600" cy="2047888"/>
          </a:xfrm>
          <a:prstGeom prst="rect">
            <a:avLst/>
          </a:prstGeom>
        </p:spPr>
        <p:txBody>
          <a:bodyPr anchor="t" rtlCol="false" tIns="0" lIns="0" bIns="0" rIns="0">
            <a:spAutoFit/>
          </a:bodyPr>
          <a:lstStyle/>
          <a:p>
            <a:pPr algn="ctr">
              <a:lnSpc>
                <a:spcPts val="16799"/>
              </a:lnSpc>
            </a:pPr>
            <a:r>
              <a:rPr lang="en-US" sz="11999" b="true">
                <a:solidFill>
                  <a:srgbClr val="4A3222"/>
                </a:solidFill>
                <a:latin typeface="Amatic SC Bold"/>
                <a:ea typeface="Amatic SC Bold"/>
                <a:cs typeface="Amatic SC Bold"/>
                <a:sym typeface="Amatic SC Bold"/>
              </a:rPr>
              <a:t>verb +person+infinitive with to</a:t>
            </a:r>
          </a:p>
        </p:txBody>
      </p:sp>
      <p:sp>
        <p:nvSpPr>
          <p:cNvPr name="TextBox 10" id="10"/>
          <p:cNvSpPr txBox="true"/>
          <p:nvPr/>
        </p:nvSpPr>
        <p:spPr>
          <a:xfrm rot="0">
            <a:off x="1028700" y="4690983"/>
            <a:ext cx="7138785" cy="762002"/>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“I </a:t>
            </a:r>
            <a:r>
              <a:rPr lang="en-US" sz="4499" b="true">
                <a:solidFill>
                  <a:srgbClr val="473325"/>
                </a:solidFill>
                <a:latin typeface="Glacial Indifference Bold"/>
                <a:ea typeface="Glacial Indifference Bold"/>
                <a:cs typeface="Glacial Indifference Bold"/>
                <a:sym typeface="Glacial Indifference Bold"/>
              </a:rPr>
              <a:t>want you to do</a:t>
            </a:r>
            <a:r>
              <a:rPr lang="en-US" sz="4499">
                <a:solidFill>
                  <a:srgbClr val="473325"/>
                </a:solidFill>
                <a:latin typeface="Glacial Indifference"/>
                <a:ea typeface="Glacial Indifference"/>
                <a:cs typeface="Glacial Indifference"/>
                <a:sym typeface="Glacial Indifference"/>
              </a:rPr>
              <a:t> this now.”</a:t>
            </a:r>
          </a:p>
        </p:txBody>
      </p:sp>
      <p:sp>
        <p:nvSpPr>
          <p:cNvPr name="TextBox 11" id="11"/>
          <p:cNvSpPr txBox="true"/>
          <p:nvPr/>
        </p:nvSpPr>
        <p:spPr>
          <a:xfrm rot="0">
            <a:off x="1028700" y="6086397"/>
            <a:ext cx="8597311" cy="762002"/>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“The teacher t</a:t>
            </a:r>
            <a:r>
              <a:rPr lang="en-US" sz="4499" b="true">
                <a:solidFill>
                  <a:srgbClr val="473325"/>
                </a:solidFill>
                <a:latin typeface="Glacial Indifference Bold"/>
                <a:ea typeface="Glacial Indifference Bold"/>
                <a:cs typeface="Glacial Indifference Bold"/>
                <a:sym typeface="Glacial Indifference Bold"/>
              </a:rPr>
              <a:t>old him not to run</a:t>
            </a:r>
            <a:r>
              <a:rPr lang="en-US" sz="4499">
                <a:solidFill>
                  <a:srgbClr val="473325"/>
                </a:solidFill>
                <a:latin typeface="Glacial Indifference"/>
                <a:ea typeface="Glacial Indifference"/>
                <a:cs typeface="Glacial Indifference"/>
                <a:sym typeface="Glacial Indifference"/>
              </a:rPr>
              <a:t>.”</a:t>
            </a:r>
          </a:p>
        </p:txBody>
      </p:sp>
      <p:sp>
        <p:nvSpPr>
          <p:cNvPr name="TextBox 12" id="12"/>
          <p:cNvSpPr txBox="true"/>
          <p:nvPr/>
        </p:nvSpPr>
        <p:spPr>
          <a:xfrm rot="0">
            <a:off x="1028700" y="7481812"/>
            <a:ext cx="8115300" cy="762002"/>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“Can you </a:t>
            </a:r>
            <a:r>
              <a:rPr lang="en-US" sz="4499" b="true">
                <a:solidFill>
                  <a:srgbClr val="473325"/>
                </a:solidFill>
                <a:latin typeface="Glacial Indifference Bold"/>
                <a:ea typeface="Glacial Indifference Bold"/>
                <a:cs typeface="Glacial Indifference Bold"/>
                <a:sym typeface="Glacial Indifference Bold"/>
              </a:rPr>
              <a:t>ask Olivia to come</a:t>
            </a:r>
            <a:r>
              <a:rPr lang="en-US" sz="4499">
                <a:solidFill>
                  <a:srgbClr val="473325"/>
                </a:solidFill>
                <a:latin typeface="Glacial Indifference"/>
                <a:ea typeface="Glacial Indifference"/>
                <a:cs typeface="Glacial Indifference"/>
                <a:sym typeface="Glacial Indifference"/>
              </a:rPr>
              <a: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sp>
        <p:nvSpPr>
          <p:cNvPr name="Freeform 2" id="2"/>
          <p:cNvSpPr/>
          <p:nvPr/>
        </p:nvSpPr>
        <p:spPr>
          <a:xfrm flipH="false" flipV="false" rot="0">
            <a:off x="-203666" y="4670550"/>
            <a:ext cx="9913134" cy="5616450"/>
          </a:xfrm>
          <a:custGeom>
            <a:avLst/>
            <a:gdLst/>
            <a:ahLst/>
            <a:cxnLst/>
            <a:rect r="r" b="b" t="t" l="l"/>
            <a:pathLst>
              <a:path h="5616450" w="9913134">
                <a:moveTo>
                  <a:pt x="0" y="0"/>
                </a:moveTo>
                <a:lnTo>
                  <a:pt x="9913133" y="0"/>
                </a:lnTo>
                <a:lnTo>
                  <a:pt x="9913133" y="5616450"/>
                </a:lnTo>
                <a:lnTo>
                  <a:pt x="0" y="5616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30608" y="685800"/>
            <a:ext cx="17226783" cy="3053067"/>
          </a:xfrm>
          <a:prstGeom prst="rect">
            <a:avLst/>
          </a:prstGeom>
        </p:spPr>
        <p:txBody>
          <a:bodyPr anchor="t" rtlCol="false" tIns="0" lIns="0" bIns="0" rIns="0">
            <a:spAutoFit/>
          </a:bodyPr>
          <a:lstStyle/>
          <a:p>
            <a:pPr algn="ctr">
              <a:lnSpc>
                <a:spcPts val="24920"/>
              </a:lnSpc>
            </a:pPr>
            <a:r>
              <a:rPr lang="en-US" sz="17800" b="true">
                <a:solidFill>
                  <a:srgbClr val="4A3222"/>
                </a:solidFill>
                <a:latin typeface="Amatic SC Bold"/>
                <a:ea typeface="Amatic SC Bold"/>
                <a:cs typeface="Amatic SC Bold"/>
                <a:sym typeface="Amatic SC Bold"/>
              </a:rPr>
              <a:t>The infinitive without to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2087358"/>
            <a:chOff x="0" y="0"/>
            <a:chExt cx="4274726" cy="549757"/>
          </a:xfrm>
        </p:grpSpPr>
        <p:sp>
          <p:nvSpPr>
            <p:cNvPr name="Freeform 3" id="3"/>
            <p:cNvSpPr/>
            <p:nvPr/>
          </p:nvSpPr>
          <p:spPr>
            <a:xfrm flipH="false" flipV="false" rot="0">
              <a:off x="0" y="0"/>
              <a:ext cx="4274726" cy="549757"/>
            </a:xfrm>
            <a:custGeom>
              <a:avLst/>
              <a:gdLst/>
              <a:ahLst/>
              <a:cxnLst/>
              <a:rect r="r" b="b" t="t" l="l"/>
              <a:pathLst>
                <a:path h="549757" w="4274726">
                  <a:moveTo>
                    <a:pt x="0" y="0"/>
                  </a:moveTo>
                  <a:lnTo>
                    <a:pt x="4274726" y="0"/>
                  </a:lnTo>
                  <a:lnTo>
                    <a:pt x="4274726" y="549757"/>
                  </a:lnTo>
                  <a:lnTo>
                    <a:pt x="0" y="549757"/>
                  </a:lnTo>
                  <a:close/>
                </a:path>
              </a:pathLst>
            </a:custGeom>
            <a:solidFill>
              <a:srgbClr val="FFFFFF"/>
            </a:solidFill>
            <a:ln w="9525" cap="sq">
              <a:solidFill>
                <a:srgbClr val="6A3F21"/>
              </a:solidFill>
              <a:prstDash val="solid"/>
              <a:miter/>
            </a:ln>
          </p:spPr>
        </p:sp>
        <p:sp>
          <p:nvSpPr>
            <p:cNvPr name="TextBox 4" id="4"/>
            <p:cNvSpPr txBox="true"/>
            <p:nvPr/>
          </p:nvSpPr>
          <p:spPr>
            <a:xfrm>
              <a:off x="0" y="-47625"/>
              <a:ext cx="4274726" cy="59738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5320898"/>
            <a:ext cx="16230600" cy="2087358"/>
            <a:chOff x="0" y="0"/>
            <a:chExt cx="4274726" cy="549757"/>
          </a:xfrm>
        </p:grpSpPr>
        <p:sp>
          <p:nvSpPr>
            <p:cNvPr name="Freeform 6" id="6"/>
            <p:cNvSpPr/>
            <p:nvPr/>
          </p:nvSpPr>
          <p:spPr>
            <a:xfrm flipH="false" flipV="false" rot="0">
              <a:off x="0" y="0"/>
              <a:ext cx="4274726" cy="549757"/>
            </a:xfrm>
            <a:custGeom>
              <a:avLst/>
              <a:gdLst/>
              <a:ahLst/>
              <a:cxnLst/>
              <a:rect r="r" b="b" t="t" l="l"/>
              <a:pathLst>
                <a:path h="549757" w="4274726">
                  <a:moveTo>
                    <a:pt x="0" y="0"/>
                  </a:moveTo>
                  <a:lnTo>
                    <a:pt x="4274726" y="0"/>
                  </a:lnTo>
                  <a:lnTo>
                    <a:pt x="4274726" y="549757"/>
                  </a:lnTo>
                  <a:lnTo>
                    <a:pt x="0" y="549757"/>
                  </a:lnTo>
                  <a:close/>
                </a:path>
              </a:pathLst>
            </a:custGeom>
            <a:solidFill>
              <a:srgbClr val="FFFFFF"/>
            </a:solidFill>
            <a:ln w="9525" cap="sq">
              <a:solidFill>
                <a:srgbClr val="6A3F21"/>
              </a:solidFill>
              <a:prstDash val="solid"/>
              <a:miter/>
            </a:ln>
          </p:spPr>
        </p:sp>
        <p:sp>
          <p:nvSpPr>
            <p:cNvPr name="TextBox 7" id="7"/>
            <p:cNvSpPr txBox="true"/>
            <p:nvPr/>
          </p:nvSpPr>
          <p:spPr>
            <a:xfrm>
              <a:off x="0" y="-47625"/>
              <a:ext cx="4274726" cy="597382"/>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4312371" y="2112754"/>
            <a:ext cx="3792888" cy="7524354"/>
          </a:xfrm>
          <a:custGeom>
            <a:avLst/>
            <a:gdLst/>
            <a:ahLst/>
            <a:cxnLst/>
            <a:rect r="r" b="b" t="t" l="l"/>
            <a:pathLst>
              <a:path h="7524354" w="3792888">
                <a:moveTo>
                  <a:pt x="0" y="0"/>
                </a:moveTo>
                <a:lnTo>
                  <a:pt x="3792889" y="0"/>
                </a:lnTo>
                <a:lnTo>
                  <a:pt x="3792889" y="7524353"/>
                </a:lnTo>
                <a:lnTo>
                  <a:pt x="0" y="75243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302574" y="934135"/>
            <a:ext cx="15676540" cy="2047888"/>
          </a:xfrm>
          <a:prstGeom prst="rect">
            <a:avLst/>
          </a:prstGeom>
        </p:spPr>
        <p:txBody>
          <a:bodyPr anchor="t" rtlCol="false" tIns="0" lIns="0" bIns="0" rIns="0">
            <a:spAutoFit/>
          </a:bodyPr>
          <a:lstStyle/>
          <a:p>
            <a:pPr algn="l">
              <a:lnSpc>
                <a:spcPts val="16799"/>
              </a:lnSpc>
            </a:pPr>
            <a:r>
              <a:rPr lang="en-US" sz="11999" b="true">
                <a:solidFill>
                  <a:srgbClr val="4A3222"/>
                </a:solidFill>
                <a:latin typeface="Amatic SC Bold"/>
                <a:ea typeface="Amatic SC Bold"/>
                <a:cs typeface="Amatic SC Bold"/>
                <a:sym typeface="Amatic SC Bold"/>
              </a:rPr>
              <a:t>After modals and auxiliary verbs</a:t>
            </a:r>
          </a:p>
        </p:txBody>
      </p:sp>
      <p:sp>
        <p:nvSpPr>
          <p:cNvPr name="TextBox 10" id="10"/>
          <p:cNvSpPr txBox="true"/>
          <p:nvPr/>
        </p:nvSpPr>
        <p:spPr>
          <a:xfrm rot="0">
            <a:off x="1028700" y="3663546"/>
            <a:ext cx="12742017" cy="762002"/>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“We </a:t>
            </a:r>
            <a:r>
              <a:rPr lang="en-US" sz="4499" b="true">
                <a:solidFill>
                  <a:srgbClr val="473325"/>
                </a:solidFill>
                <a:latin typeface="Glacial Indifference Bold"/>
                <a:ea typeface="Glacial Indifference Bold"/>
                <a:cs typeface="Glacial Indifference Bold"/>
                <a:sym typeface="Glacial Indifference Bold"/>
              </a:rPr>
              <a:t>must eat</a:t>
            </a:r>
            <a:r>
              <a:rPr lang="en-US" sz="4499">
                <a:solidFill>
                  <a:srgbClr val="473325"/>
                </a:solidFill>
                <a:latin typeface="Glacial Indifference"/>
                <a:ea typeface="Glacial Indifference"/>
                <a:cs typeface="Glacial Indifference"/>
                <a:sym typeface="Glacial Indifference"/>
              </a:rPr>
              <a:t> really fast to be on time for the test”</a:t>
            </a:r>
          </a:p>
        </p:txBody>
      </p:sp>
      <p:sp>
        <p:nvSpPr>
          <p:cNvPr name="TextBox 11" id="11"/>
          <p:cNvSpPr txBox="true"/>
          <p:nvPr/>
        </p:nvSpPr>
        <p:spPr>
          <a:xfrm rot="0">
            <a:off x="1028700" y="7951181"/>
            <a:ext cx="11908574" cy="762002"/>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“My parents didn’t</a:t>
            </a:r>
            <a:r>
              <a:rPr lang="en-US" sz="4499" b="true">
                <a:solidFill>
                  <a:srgbClr val="473325"/>
                </a:solidFill>
                <a:latin typeface="Glacial Indifference Bold"/>
                <a:ea typeface="Glacial Indifference Bold"/>
                <a:cs typeface="Glacial Indifference Bold"/>
                <a:sym typeface="Glacial Indifference Bold"/>
              </a:rPr>
              <a:t> let me go</a:t>
            </a:r>
            <a:r>
              <a:rPr lang="en-US" sz="4499">
                <a:solidFill>
                  <a:srgbClr val="473325"/>
                </a:solidFill>
                <a:latin typeface="Glacial Indifference"/>
                <a:ea typeface="Glacial Indifference"/>
                <a:cs typeface="Glacial Indifference"/>
                <a:sym typeface="Glacial Indifference"/>
              </a:rPr>
              <a:t> out last night”</a:t>
            </a:r>
          </a:p>
        </p:txBody>
      </p:sp>
      <p:sp>
        <p:nvSpPr>
          <p:cNvPr name="TextBox 12" id="12"/>
          <p:cNvSpPr txBox="true"/>
          <p:nvPr/>
        </p:nvSpPr>
        <p:spPr>
          <a:xfrm rot="0">
            <a:off x="1302574" y="5226333"/>
            <a:ext cx="15676540" cy="2047888"/>
          </a:xfrm>
          <a:prstGeom prst="rect">
            <a:avLst/>
          </a:prstGeom>
        </p:spPr>
        <p:txBody>
          <a:bodyPr anchor="t" rtlCol="false" tIns="0" lIns="0" bIns="0" rIns="0">
            <a:spAutoFit/>
          </a:bodyPr>
          <a:lstStyle/>
          <a:p>
            <a:pPr algn="l">
              <a:lnSpc>
                <a:spcPts val="16799"/>
              </a:lnSpc>
            </a:pPr>
            <a:r>
              <a:rPr lang="en-US" sz="11999" b="true">
                <a:solidFill>
                  <a:srgbClr val="4A3222"/>
                </a:solidFill>
                <a:latin typeface="Amatic SC Bold"/>
                <a:ea typeface="Amatic SC Bold"/>
                <a:cs typeface="Amatic SC Bold"/>
                <a:sym typeface="Amatic SC Bold"/>
              </a:rPr>
              <a:t>after make and let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grpSp>
        <p:nvGrpSpPr>
          <p:cNvPr name="Group 2" id="2"/>
          <p:cNvGrpSpPr/>
          <p:nvPr/>
        </p:nvGrpSpPr>
        <p:grpSpPr>
          <a:xfrm rot="0">
            <a:off x="731042" y="1326358"/>
            <a:ext cx="8699846" cy="7931942"/>
            <a:chOff x="0" y="0"/>
            <a:chExt cx="2291318" cy="2089071"/>
          </a:xfrm>
        </p:grpSpPr>
        <p:sp>
          <p:nvSpPr>
            <p:cNvPr name="Freeform 3" id="3"/>
            <p:cNvSpPr/>
            <p:nvPr/>
          </p:nvSpPr>
          <p:spPr>
            <a:xfrm flipH="false" flipV="false" rot="0">
              <a:off x="0" y="0"/>
              <a:ext cx="2291318" cy="2089071"/>
            </a:xfrm>
            <a:custGeom>
              <a:avLst/>
              <a:gdLst/>
              <a:ahLst/>
              <a:cxnLst/>
              <a:rect r="r" b="b" t="t" l="l"/>
              <a:pathLst>
                <a:path h="2089071" w="2291318">
                  <a:moveTo>
                    <a:pt x="0" y="0"/>
                  </a:moveTo>
                  <a:lnTo>
                    <a:pt x="2291318" y="0"/>
                  </a:lnTo>
                  <a:lnTo>
                    <a:pt x="2291318" y="2089071"/>
                  </a:lnTo>
                  <a:lnTo>
                    <a:pt x="0" y="2089071"/>
                  </a:lnTo>
                  <a:close/>
                </a:path>
              </a:pathLst>
            </a:custGeom>
            <a:solidFill>
              <a:srgbClr val="FFFFFF"/>
            </a:solidFill>
            <a:ln w="9525" cap="sq">
              <a:solidFill>
                <a:srgbClr val="6A3F21"/>
              </a:solidFill>
              <a:prstDash val="solid"/>
              <a:miter/>
            </a:ln>
          </p:spPr>
        </p:sp>
        <p:sp>
          <p:nvSpPr>
            <p:cNvPr name="TextBox 4" id="4"/>
            <p:cNvSpPr txBox="true"/>
            <p:nvPr/>
          </p:nvSpPr>
          <p:spPr>
            <a:xfrm>
              <a:off x="0" y="-47625"/>
              <a:ext cx="2291318" cy="213669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690555" y="1326358"/>
            <a:ext cx="7568745" cy="1079530"/>
            <a:chOff x="0" y="0"/>
            <a:chExt cx="1993414" cy="284321"/>
          </a:xfrm>
        </p:grpSpPr>
        <p:sp>
          <p:nvSpPr>
            <p:cNvPr name="Freeform 6" id="6"/>
            <p:cNvSpPr/>
            <p:nvPr/>
          </p:nvSpPr>
          <p:spPr>
            <a:xfrm flipH="false" flipV="false" rot="0">
              <a:off x="0" y="0"/>
              <a:ext cx="1993414" cy="284321"/>
            </a:xfrm>
            <a:custGeom>
              <a:avLst/>
              <a:gdLst/>
              <a:ahLst/>
              <a:cxnLst/>
              <a:rect r="r" b="b" t="t" l="l"/>
              <a:pathLst>
                <a:path h="284321" w="1993414">
                  <a:moveTo>
                    <a:pt x="0" y="0"/>
                  </a:moveTo>
                  <a:lnTo>
                    <a:pt x="1993414" y="0"/>
                  </a:lnTo>
                  <a:lnTo>
                    <a:pt x="1993414" y="284321"/>
                  </a:lnTo>
                  <a:lnTo>
                    <a:pt x="0" y="284321"/>
                  </a:lnTo>
                  <a:close/>
                </a:path>
              </a:pathLst>
            </a:custGeom>
            <a:solidFill>
              <a:srgbClr val="FFFFFF"/>
            </a:solidFill>
            <a:ln w="9525" cap="sq">
              <a:solidFill>
                <a:srgbClr val="6A3F21"/>
              </a:solidFill>
              <a:prstDash val="solid"/>
              <a:miter/>
            </a:ln>
          </p:spPr>
        </p:sp>
        <p:sp>
          <p:nvSpPr>
            <p:cNvPr name="TextBox 7" id="7"/>
            <p:cNvSpPr txBox="true"/>
            <p:nvPr/>
          </p:nvSpPr>
          <p:spPr>
            <a:xfrm>
              <a:off x="0" y="-47625"/>
              <a:ext cx="1993414" cy="33194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690555" y="4063970"/>
            <a:ext cx="7568745" cy="1079530"/>
            <a:chOff x="0" y="0"/>
            <a:chExt cx="1993414" cy="284321"/>
          </a:xfrm>
        </p:grpSpPr>
        <p:sp>
          <p:nvSpPr>
            <p:cNvPr name="Freeform 9" id="9"/>
            <p:cNvSpPr/>
            <p:nvPr/>
          </p:nvSpPr>
          <p:spPr>
            <a:xfrm flipH="false" flipV="false" rot="0">
              <a:off x="0" y="0"/>
              <a:ext cx="1993414" cy="284321"/>
            </a:xfrm>
            <a:custGeom>
              <a:avLst/>
              <a:gdLst/>
              <a:ahLst/>
              <a:cxnLst/>
              <a:rect r="r" b="b" t="t" l="l"/>
              <a:pathLst>
                <a:path h="284321" w="1993414">
                  <a:moveTo>
                    <a:pt x="0" y="0"/>
                  </a:moveTo>
                  <a:lnTo>
                    <a:pt x="1993414" y="0"/>
                  </a:lnTo>
                  <a:lnTo>
                    <a:pt x="1993414" y="284321"/>
                  </a:lnTo>
                  <a:lnTo>
                    <a:pt x="0" y="284321"/>
                  </a:lnTo>
                  <a:close/>
                </a:path>
              </a:pathLst>
            </a:custGeom>
            <a:solidFill>
              <a:srgbClr val="FFFFFF"/>
            </a:solidFill>
            <a:ln w="9525" cap="sq">
              <a:solidFill>
                <a:srgbClr val="6A3F21"/>
              </a:solidFill>
              <a:prstDash val="solid"/>
              <a:miter/>
            </a:ln>
          </p:spPr>
        </p:sp>
        <p:sp>
          <p:nvSpPr>
            <p:cNvPr name="TextBox 10" id="10"/>
            <p:cNvSpPr txBox="true"/>
            <p:nvPr/>
          </p:nvSpPr>
          <p:spPr>
            <a:xfrm>
              <a:off x="0" y="-47625"/>
              <a:ext cx="1993414" cy="33194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9690555" y="7073163"/>
            <a:ext cx="7568745" cy="1079530"/>
            <a:chOff x="0" y="0"/>
            <a:chExt cx="1993414" cy="284321"/>
          </a:xfrm>
        </p:grpSpPr>
        <p:sp>
          <p:nvSpPr>
            <p:cNvPr name="Freeform 12" id="12"/>
            <p:cNvSpPr/>
            <p:nvPr/>
          </p:nvSpPr>
          <p:spPr>
            <a:xfrm flipH="false" flipV="false" rot="0">
              <a:off x="0" y="0"/>
              <a:ext cx="1993414" cy="284321"/>
            </a:xfrm>
            <a:custGeom>
              <a:avLst/>
              <a:gdLst/>
              <a:ahLst/>
              <a:cxnLst/>
              <a:rect r="r" b="b" t="t" l="l"/>
              <a:pathLst>
                <a:path h="284321" w="1993414">
                  <a:moveTo>
                    <a:pt x="0" y="0"/>
                  </a:moveTo>
                  <a:lnTo>
                    <a:pt x="1993414" y="0"/>
                  </a:lnTo>
                  <a:lnTo>
                    <a:pt x="1993414" y="284321"/>
                  </a:lnTo>
                  <a:lnTo>
                    <a:pt x="0" y="284321"/>
                  </a:lnTo>
                  <a:close/>
                </a:path>
              </a:pathLst>
            </a:custGeom>
            <a:solidFill>
              <a:srgbClr val="FFFFFF"/>
            </a:solidFill>
            <a:ln w="9525" cap="sq">
              <a:solidFill>
                <a:srgbClr val="6A3F21"/>
              </a:solidFill>
              <a:prstDash val="solid"/>
              <a:miter/>
            </a:ln>
          </p:spPr>
        </p:sp>
        <p:sp>
          <p:nvSpPr>
            <p:cNvPr name="TextBox 13" id="13"/>
            <p:cNvSpPr txBox="true"/>
            <p:nvPr/>
          </p:nvSpPr>
          <p:spPr>
            <a:xfrm>
              <a:off x="0" y="-47625"/>
              <a:ext cx="1993414" cy="331946"/>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true" flipV="false" rot="0">
            <a:off x="0" y="4081149"/>
            <a:ext cx="1804456" cy="6012814"/>
          </a:xfrm>
          <a:custGeom>
            <a:avLst/>
            <a:gdLst/>
            <a:ahLst/>
            <a:cxnLst/>
            <a:rect r="r" b="b" t="t" l="l"/>
            <a:pathLst>
              <a:path h="6012814" w="1804456">
                <a:moveTo>
                  <a:pt x="1804456" y="0"/>
                </a:moveTo>
                <a:lnTo>
                  <a:pt x="0" y="0"/>
                </a:lnTo>
                <a:lnTo>
                  <a:pt x="0" y="6012814"/>
                </a:lnTo>
                <a:lnTo>
                  <a:pt x="1804456" y="6012814"/>
                </a:lnTo>
                <a:lnTo>
                  <a:pt x="18044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851225" y="2536191"/>
            <a:ext cx="7490938" cy="5157467"/>
          </a:xfrm>
          <a:prstGeom prst="rect">
            <a:avLst/>
          </a:prstGeom>
        </p:spPr>
        <p:txBody>
          <a:bodyPr anchor="t" rtlCol="false" tIns="0" lIns="0" bIns="0" rIns="0">
            <a:spAutoFit/>
          </a:bodyPr>
          <a:lstStyle/>
          <a:p>
            <a:pPr algn="l">
              <a:lnSpc>
                <a:spcPts val="10240"/>
              </a:lnSpc>
            </a:pPr>
            <a:r>
              <a:rPr lang="en-US" sz="8000">
                <a:solidFill>
                  <a:srgbClr val="4A3222"/>
                </a:solidFill>
                <a:latin typeface="Amatic SC"/>
                <a:ea typeface="Amatic SC"/>
                <a:cs typeface="Amatic SC"/>
                <a:sym typeface="Amatic SC"/>
              </a:rPr>
              <a:t>common verbs that can take the infinitive or gerund with </a:t>
            </a:r>
            <a:r>
              <a:rPr lang="en-US" sz="8000" b="true">
                <a:solidFill>
                  <a:srgbClr val="4A3222"/>
                </a:solidFill>
                <a:latin typeface="Amatic SC Bold"/>
                <a:ea typeface="Amatic SC Bold"/>
                <a:cs typeface="Amatic SC Bold"/>
                <a:sym typeface="Amatic SC Bold"/>
              </a:rPr>
              <a:t>no difference in meaning</a:t>
            </a:r>
          </a:p>
        </p:txBody>
      </p:sp>
      <p:sp>
        <p:nvSpPr>
          <p:cNvPr name="TextBox 16" id="16"/>
          <p:cNvSpPr txBox="true"/>
          <p:nvPr/>
        </p:nvSpPr>
        <p:spPr>
          <a:xfrm rot="0">
            <a:off x="9690555" y="2796417"/>
            <a:ext cx="7568745" cy="762002"/>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It started </a:t>
            </a:r>
            <a:r>
              <a:rPr lang="en-US" sz="4499" b="true">
                <a:solidFill>
                  <a:srgbClr val="473325"/>
                </a:solidFill>
                <a:latin typeface="Glacial Indifference Bold"/>
                <a:ea typeface="Glacial Indifference Bold"/>
                <a:cs typeface="Glacial Indifference Bold"/>
                <a:sym typeface="Glacial Indifference Bold"/>
              </a:rPr>
              <a:t>to rain/ raining.</a:t>
            </a:r>
          </a:p>
        </p:txBody>
      </p:sp>
      <p:sp>
        <p:nvSpPr>
          <p:cNvPr name="TextBox 17" id="17"/>
          <p:cNvSpPr txBox="true"/>
          <p:nvPr/>
        </p:nvSpPr>
        <p:spPr>
          <a:xfrm rot="0">
            <a:off x="9690555" y="5274893"/>
            <a:ext cx="7568745" cy="1552577"/>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I began </a:t>
            </a:r>
            <a:r>
              <a:rPr lang="en-US" sz="4499" b="true">
                <a:solidFill>
                  <a:srgbClr val="473325"/>
                </a:solidFill>
                <a:latin typeface="Glacial Indifference Bold"/>
                <a:ea typeface="Glacial Indifference Bold"/>
                <a:cs typeface="Glacial Indifference Bold"/>
                <a:sym typeface="Glacial Indifference Bold"/>
              </a:rPr>
              <a:t>to take/ taking</a:t>
            </a:r>
            <a:r>
              <a:rPr lang="en-US" sz="4499">
                <a:solidFill>
                  <a:srgbClr val="473325"/>
                </a:solidFill>
                <a:latin typeface="Glacial Indifference"/>
                <a:ea typeface="Glacial Indifference"/>
                <a:cs typeface="Glacial Indifference"/>
                <a:sym typeface="Glacial Indifference"/>
              </a:rPr>
              <a:t> classes in 2015.</a:t>
            </a:r>
          </a:p>
        </p:txBody>
      </p:sp>
      <p:sp>
        <p:nvSpPr>
          <p:cNvPr name="TextBox 18" id="18"/>
          <p:cNvSpPr txBox="true"/>
          <p:nvPr/>
        </p:nvSpPr>
        <p:spPr>
          <a:xfrm rot="0">
            <a:off x="9690555" y="8496298"/>
            <a:ext cx="7955701" cy="762002"/>
          </a:xfrm>
          <a:prstGeom prst="rect">
            <a:avLst/>
          </a:prstGeom>
        </p:spPr>
        <p:txBody>
          <a:bodyPr anchor="t" rtlCol="false" tIns="0" lIns="0" bIns="0" rIns="0">
            <a:spAutoFit/>
          </a:bodyPr>
          <a:lstStyle/>
          <a:p>
            <a:pPr algn="l">
              <a:lnSpc>
                <a:spcPts val="6299"/>
              </a:lnSpc>
            </a:pPr>
            <a:r>
              <a:rPr lang="en-US" sz="4499">
                <a:solidFill>
                  <a:srgbClr val="473325"/>
                </a:solidFill>
                <a:latin typeface="Glacial Indifference"/>
                <a:ea typeface="Glacial Indifference"/>
                <a:cs typeface="Glacial Indifference"/>
                <a:sym typeface="Glacial Indifference"/>
              </a:rPr>
              <a:t>We continued </a:t>
            </a:r>
            <a:r>
              <a:rPr lang="en-US" sz="4499" b="true">
                <a:solidFill>
                  <a:srgbClr val="473325"/>
                </a:solidFill>
                <a:latin typeface="Glacial Indifference Bold"/>
                <a:ea typeface="Glacial Indifference Bold"/>
                <a:cs typeface="Glacial Indifference Bold"/>
                <a:sym typeface="Glacial Indifference Bold"/>
              </a:rPr>
              <a:t>talking/ to talk.</a:t>
            </a:r>
          </a:p>
        </p:txBody>
      </p:sp>
      <p:sp>
        <p:nvSpPr>
          <p:cNvPr name="TextBox 19" id="19"/>
          <p:cNvSpPr txBox="true"/>
          <p:nvPr/>
        </p:nvSpPr>
        <p:spPr>
          <a:xfrm rot="0">
            <a:off x="10030688" y="1278733"/>
            <a:ext cx="5734754" cy="1109976"/>
          </a:xfrm>
          <a:prstGeom prst="rect">
            <a:avLst/>
          </a:prstGeom>
        </p:spPr>
        <p:txBody>
          <a:bodyPr anchor="t" rtlCol="false" tIns="0" lIns="0" bIns="0" rIns="0">
            <a:spAutoFit/>
          </a:bodyPr>
          <a:lstStyle/>
          <a:p>
            <a:pPr algn="l">
              <a:lnSpc>
                <a:spcPts val="8960"/>
              </a:lnSpc>
            </a:pPr>
            <a:r>
              <a:rPr lang="en-US" sz="7000" b="true">
                <a:solidFill>
                  <a:srgbClr val="4A3222"/>
                </a:solidFill>
                <a:latin typeface="Amatic SC Bold"/>
                <a:ea typeface="Amatic SC Bold"/>
                <a:cs typeface="Amatic SC Bold"/>
                <a:sym typeface="Amatic SC Bold"/>
              </a:rPr>
              <a:t>start</a:t>
            </a:r>
          </a:p>
        </p:txBody>
      </p:sp>
      <p:sp>
        <p:nvSpPr>
          <p:cNvPr name="TextBox 20" id="20"/>
          <p:cNvSpPr txBox="true"/>
          <p:nvPr/>
        </p:nvSpPr>
        <p:spPr>
          <a:xfrm rot="0">
            <a:off x="10030688" y="4033524"/>
            <a:ext cx="5734754" cy="1109976"/>
          </a:xfrm>
          <a:prstGeom prst="rect">
            <a:avLst/>
          </a:prstGeom>
        </p:spPr>
        <p:txBody>
          <a:bodyPr anchor="t" rtlCol="false" tIns="0" lIns="0" bIns="0" rIns="0">
            <a:spAutoFit/>
          </a:bodyPr>
          <a:lstStyle/>
          <a:p>
            <a:pPr algn="l">
              <a:lnSpc>
                <a:spcPts val="8960"/>
              </a:lnSpc>
            </a:pPr>
            <a:r>
              <a:rPr lang="en-US" sz="7000" b="true">
                <a:solidFill>
                  <a:srgbClr val="4A3222"/>
                </a:solidFill>
                <a:latin typeface="Amatic SC Bold"/>
                <a:ea typeface="Amatic SC Bold"/>
                <a:cs typeface="Amatic SC Bold"/>
                <a:sym typeface="Amatic SC Bold"/>
              </a:rPr>
              <a:t>begin</a:t>
            </a:r>
          </a:p>
        </p:txBody>
      </p:sp>
      <p:sp>
        <p:nvSpPr>
          <p:cNvPr name="TextBox 21" id="21"/>
          <p:cNvSpPr txBox="true"/>
          <p:nvPr/>
        </p:nvSpPr>
        <p:spPr>
          <a:xfrm rot="0">
            <a:off x="10030688" y="6996963"/>
            <a:ext cx="5734754" cy="1109976"/>
          </a:xfrm>
          <a:prstGeom prst="rect">
            <a:avLst/>
          </a:prstGeom>
        </p:spPr>
        <p:txBody>
          <a:bodyPr anchor="t" rtlCol="false" tIns="0" lIns="0" bIns="0" rIns="0">
            <a:spAutoFit/>
          </a:bodyPr>
          <a:lstStyle/>
          <a:p>
            <a:pPr algn="l">
              <a:lnSpc>
                <a:spcPts val="8960"/>
              </a:lnSpc>
            </a:pPr>
            <a:r>
              <a:rPr lang="en-US" sz="7000" b="true">
                <a:solidFill>
                  <a:srgbClr val="4A3222"/>
                </a:solidFill>
                <a:latin typeface="Amatic SC Bold"/>
                <a:ea typeface="Amatic SC Bold"/>
                <a:cs typeface="Amatic SC Bold"/>
                <a:sym typeface="Amatic SC Bold"/>
              </a:rPr>
              <a:t>continue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3060314"/>
            <a:chOff x="0" y="0"/>
            <a:chExt cx="4274726" cy="806009"/>
          </a:xfrm>
        </p:grpSpPr>
        <p:sp>
          <p:nvSpPr>
            <p:cNvPr name="Freeform 3" id="3"/>
            <p:cNvSpPr/>
            <p:nvPr/>
          </p:nvSpPr>
          <p:spPr>
            <a:xfrm flipH="false" flipV="false" rot="0">
              <a:off x="0" y="0"/>
              <a:ext cx="4274726" cy="806009"/>
            </a:xfrm>
            <a:custGeom>
              <a:avLst/>
              <a:gdLst/>
              <a:ahLst/>
              <a:cxnLst/>
              <a:rect r="r" b="b" t="t" l="l"/>
              <a:pathLst>
                <a:path h="806009" w="4274726">
                  <a:moveTo>
                    <a:pt x="0" y="0"/>
                  </a:moveTo>
                  <a:lnTo>
                    <a:pt x="4274726" y="0"/>
                  </a:lnTo>
                  <a:lnTo>
                    <a:pt x="4274726" y="806009"/>
                  </a:lnTo>
                  <a:lnTo>
                    <a:pt x="0" y="806009"/>
                  </a:lnTo>
                  <a:close/>
                </a:path>
              </a:pathLst>
            </a:custGeom>
            <a:solidFill>
              <a:srgbClr val="FFFFFF"/>
            </a:solidFill>
            <a:ln w="9525" cap="sq">
              <a:solidFill>
                <a:srgbClr val="6A3F21"/>
              </a:solidFill>
              <a:prstDash val="solid"/>
              <a:miter/>
            </a:ln>
          </p:spPr>
        </p:sp>
        <p:sp>
          <p:nvSpPr>
            <p:cNvPr name="TextBox 4" id="4"/>
            <p:cNvSpPr txBox="true"/>
            <p:nvPr/>
          </p:nvSpPr>
          <p:spPr>
            <a:xfrm>
              <a:off x="0" y="-47625"/>
              <a:ext cx="4274726" cy="85363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4485176"/>
            <a:ext cx="16230600" cy="1079530"/>
            <a:chOff x="0" y="0"/>
            <a:chExt cx="4274726" cy="284321"/>
          </a:xfrm>
        </p:grpSpPr>
        <p:sp>
          <p:nvSpPr>
            <p:cNvPr name="Freeform 6" id="6"/>
            <p:cNvSpPr/>
            <p:nvPr/>
          </p:nvSpPr>
          <p:spPr>
            <a:xfrm flipH="false" flipV="false" rot="0">
              <a:off x="0" y="0"/>
              <a:ext cx="4274726" cy="284321"/>
            </a:xfrm>
            <a:custGeom>
              <a:avLst/>
              <a:gdLst/>
              <a:ahLst/>
              <a:cxnLst/>
              <a:rect r="r" b="b" t="t" l="l"/>
              <a:pathLst>
                <a:path h="284321" w="4274726">
                  <a:moveTo>
                    <a:pt x="0" y="0"/>
                  </a:moveTo>
                  <a:lnTo>
                    <a:pt x="4274726" y="0"/>
                  </a:lnTo>
                  <a:lnTo>
                    <a:pt x="4274726" y="284321"/>
                  </a:lnTo>
                  <a:lnTo>
                    <a:pt x="0" y="284321"/>
                  </a:lnTo>
                  <a:close/>
                </a:path>
              </a:pathLst>
            </a:custGeom>
            <a:solidFill>
              <a:srgbClr val="FFFFFF"/>
            </a:solidFill>
            <a:ln w="9525" cap="sq">
              <a:solidFill>
                <a:srgbClr val="6A3F21"/>
              </a:solidFill>
              <a:prstDash val="solid"/>
              <a:miter/>
            </a:ln>
          </p:spPr>
        </p:sp>
        <p:sp>
          <p:nvSpPr>
            <p:cNvPr name="TextBox 7" id="7"/>
            <p:cNvSpPr txBox="true"/>
            <p:nvPr/>
          </p:nvSpPr>
          <p:spPr>
            <a:xfrm>
              <a:off x="0" y="-47625"/>
              <a:ext cx="4274726" cy="3319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true" flipV="false" rot="0">
            <a:off x="15335282" y="1028700"/>
            <a:ext cx="2805861" cy="4614401"/>
          </a:xfrm>
          <a:custGeom>
            <a:avLst/>
            <a:gdLst/>
            <a:ahLst/>
            <a:cxnLst/>
            <a:rect r="r" b="b" t="t" l="l"/>
            <a:pathLst>
              <a:path h="4614401" w="2805861">
                <a:moveTo>
                  <a:pt x="2805861" y="0"/>
                </a:moveTo>
                <a:lnTo>
                  <a:pt x="0" y="0"/>
                </a:lnTo>
                <a:lnTo>
                  <a:pt x="0" y="4614401"/>
                </a:lnTo>
                <a:lnTo>
                  <a:pt x="2805861" y="4614401"/>
                </a:lnTo>
                <a:lnTo>
                  <a:pt x="280586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573622" y="1246948"/>
            <a:ext cx="15140755" cy="2566667"/>
          </a:xfrm>
          <a:prstGeom prst="rect">
            <a:avLst/>
          </a:prstGeom>
        </p:spPr>
        <p:txBody>
          <a:bodyPr anchor="t" rtlCol="false" tIns="0" lIns="0" bIns="0" rIns="0">
            <a:spAutoFit/>
          </a:bodyPr>
          <a:lstStyle/>
          <a:p>
            <a:pPr algn="l">
              <a:lnSpc>
                <a:spcPts val="10240"/>
              </a:lnSpc>
            </a:pPr>
            <a:r>
              <a:rPr lang="en-US" sz="8000">
                <a:solidFill>
                  <a:srgbClr val="4A3222"/>
                </a:solidFill>
                <a:latin typeface="Amatic SC"/>
                <a:ea typeface="Amatic SC"/>
                <a:cs typeface="Amatic SC"/>
                <a:sym typeface="Amatic SC"/>
              </a:rPr>
              <a:t>common verbs that can take the infinitive or gerund but </a:t>
            </a:r>
            <a:r>
              <a:rPr lang="en-US" sz="8000" b="true">
                <a:solidFill>
                  <a:srgbClr val="4A3222"/>
                </a:solidFill>
                <a:latin typeface="Amatic SC Bold"/>
                <a:ea typeface="Amatic SC Bold"/>
                <a:cs typeface="Amatic SC Bold"/>
                <a:sym typeface="Amatic SC Bold"/>
              </a:rPr>
              <a:t>the meaning is different</a:t>
            </a:r>
          </a:p>
        </p:txBody>
      </p:sp>
      <p:sp>
        <p:nvSpPr>
          <p:cNvPr name="TextBox 10" id="10"/>
          <p:cNvSpPr txBox="true"/>
          <p:nvPr/>
        </p:nvSpPr>
        <p:spPr>
          <a:xfrm rot="0">
            <a:off x="482145" y="6155256"/>
            <a:ext cx="8831921" cy="1393826"/>
          </a:xfrm>
          <a:prstGeom prst="rect">
            <a:avLst/>
          </a:prstGeom>
        </p:spPr>
        <p:txBody>
          <a:bodyPr anchor="t" rtlCol="false" tIns="0" lIns="0" bIns="0" rIns="0">
            <a:spAutoFit/>
          </a:bodyPr>
          <a:lstStyle/>
          <a:p>
            <a:pPr algn="l" marL="863588" indent="-431794" lvl="1">
              <a:lnSpc>
                <a:spcPts val="5599"/>
              </a:lnSpc>
              <a:buFont typeface="Arial"/>
              <a:buChar char="•"/>
            </a:pPr>
            <a:r>
              <a:rPr lang="en-US" sz="3999">
                <a:solidFill>
                  <a:srgbClr val="473325"/>
                </a:solidFill>
                <a:latin typeface="Glacial Indifference"/>
                <a:ea typeface="Glacial Indifference"/>
                <a:cs typeface="Glacial Indifference"/>
                <a:sym typeface="Glacial Indifference"/>
              </a:rPr>
              <a:t>“I’ve </a:t>
            </a:r>
            <a:r>
              <a:rPr lang="en-US" b="true" sz="3999">
                <a:solidFill>
                  <a:srgbClr val="473325"/>
                </a:solidFill>
                <a:latin typeface="Glacial Indifference Bold"/>
                <a:ea typeface="Glacial Indifference Bold"/>
                <a:cs typeface="Glacial Indifference Bold"/>
                <a:sym typeface="Glacial Indifference Bold"/>
              </a:rPr>
              <a:t>stopped taking</a:t>
            </a:r>
            <a:r>
              <a:rPr lang="en-US" sz="3999">
                <a:solidFill>
                  <a:srgbClr val="473325"/>
                </a:solidFill>
                <a:latin typeface="Glacial Indifference"/>
                <a:ea typeface="Glacial Indifference"/>
                <a:cs typeface="Glacial Indifference"/>
                <a:sym typeface="Glacial Indifference"/>
              </a:rPr>
              <a:t> the bus.</a:t>
            </a:r>
          </a:p>
          <a:p>
            <a:pPr algn="l">
              <a:lnSpc>
                <a:spcPts val="5599"/>
              </a:lnSpc>
            </a:pPr>
            <a:r>
              <a:rPr lang="en-US" sz="3999">
                <a:solidFill>
                  <a:srgbClr val="473325"/>
                </a:solidFill>
                <a:latin typeface="Glacial Indifference"/>
                <a:ea typeface="Glacial Indifference"/>
                <a:cs typeface="Glacial Indifference"/>
                <a:sym typeface="Glacial Indifference"/>
              </a:rPr>
              <a:t>       ( I don’t take it anymore)”</a:t>
            </a:r>
          </a:p>
        </p:txBody>
      </p:sp>
      <p:sp>
        <p:nvSpPr>
          <p:cNvPr name="TextBox 11" id="11"/>
          <p:cNvSpPr txBox="true"/>
          <p:nvPr/>
        </p:nvSpPr>
        <p:spPr>
          <a:xfrm rot="0">
            <a:off x="1028700" y="4437551"/>
            <a:ext cx="15890467" cy="1109976"/>
          </a:xfrm>
          <a:prstGeom prst="rect">
            <a:avLst/>
          </a:prstGeom>
        </p:spPr>
        <p:txBody>
          <a:bodyPr anchor="t" rtlCol="false" tIns="0" lIns="0" bIns="0" rIns="0">
            <a:spAutoFit/>
          </a:bodyPr>
          <a:lstStyle/>
          <a:p>
            <a:pPr algn="ctr">
              <a:lnSpc>
                <a:spcPts val="8960"/>
              </a:lnSpc>
            </a:pPr>
            <a:r>
              <a:rPr lang="en-US" sz="7000" b="true">
                <a:solidFill>
                  <a:srgbClr val="4A3222"/>
                </a:solidFill>
                <a:latin typeface="Amatic SC Bold"/>
                <a:ea typeface="Amatic SC Bold"/>
                <a:cs typeface="Amatic SC Bold"/>
                <a:sym typeface="Amatic SC Bold"/>
              </a:rPr>
              <a:t>stop- try- Remember- forget</a:t>
            </a:r>
          </a:p>
        </p:txBody>
      </p:sp>
      <p:sp>
        <p:nvSpPr>
          <p:cNvPr name="TextBox 12" id="12"/>
          <p:cNvSpPr txBox="true"/>
          <p:nvPr/>
        </p:nvSpPr>
        <p:spPr>
          <a:xfrm rot="0">
            <a:off x="482145" y="7863407"/>
            <a:ext cx="8831921" cy="1393826"/>
          </a:xfrm>
          <a:prstGeom prst="rect">
            <a:avLst/>
          </a:prstGeom>
        </p:spPr>
        <p:txBody>
          <a:bodyPr anchor="t" rtlCol="false" tIns="0" lIns="0" bIns="0" rIns="0">
            <a:spAutoFit/>
          </a:bodyPr>
          <a:lstStyle/>
          <a:p>
            <a:pPr algn="l" marL="863588" indent="-431794" lvl="1">
              <a:lnSpc>
                <a:spcPts val="5599"/>
              </a:lnSpc>
              <a:buFont typeface="Arial"/>
              <a:buChar char="•"/>
            </a:pPr>
            <a:r>
              <a:rPr lang="en-US" sz="3999">
                <a:solidFill>
                  <a:srgbClr val="473325"/>
                </a:solidFill>
                <a:latin typeface="Glacial Indifference"/>
                <a:ea typeface="Glacial Indifference"/>
                <a:cs typeface="Glacial Indifference"/>
                <a:sym typeface="Glacial Indifference"/>
              </a:rPr>
              <a:t>“I</a:t>
            </a:r>
            <a:r>
              <a:rPr lang="en-US" b="true" sz="3999">
                <a:solidFill>
                  <a:srgbClr val="473325"/>
                </a:solidFill>
                <a:latin typeface="Glacial Indifference Bold"/>
                <a:ea typeface="Glacial Indifference Bold"/>
                <a:cs typeface="Glacial Indifference Bold"/>
                <a:sym typeface="Glacial Indifference Bold"/>
              </a:rPr>
              <a:t> stopped to take</a:t>
            </a:r>
            <a:r>
              <a:rPr lang="en-US" sz="3999">
                <a:solidFill>
                  <a:srgbClr val="473325"/>
                </a:solidFill>
                <a:latin typeface="Glacial Indifference"/>
                <a:ea typeface="Glacial Indifference"/>
                <a:cs typeface="Glacial Indifference"/>
                <a:sym typeface="Glacial Indifference"/>
              </a:rPr>
              <a:t> the bus. (stop an activity to do something else)”</a:t>
            </a:r>
          </a:p>
        </p:txBody>
      </p:sp>
      <p:sp>
        <p:nvSpPr>
          <p:cNvPr name="TextBox 13" id="13"/>
          <p:cNvSpPr txBox="true"/>
          <p:nvPr/>
        </p:nvSpPr>
        <p:spPr>
          <a:xfrm rot="0">
            <a:off x="9671853" y="6155256"/>
            <a:ext cx="8151181" cy="1393826"/>
          </a:xfrm>
          <a:prstGeom prst="rect">
            <a:avLst/>
          </a:prstGeom>
        </p:spPr>
        <p:txBody>
          <a:bodyPr anchor="t" rtlCol="false" tIns="0" lIns="0" bIns="0" rIns="0">
            <a:spAutoFit/>
          </a:bodyPr>
          <a:lstStyle/>
          <a:p>
            <a:pPr algn="l" marL="863588" indent="-431794" lvl="1">
              <a:lnSpc>
                <a:spcPts val="5599"/>
              </a:lnSpc>
              <a:buFont typeface="Arial"/>
              <a:buChar char="•"/>
            </a:pPr>
            <a:r>
              <a:rPr lang="en-US" sz="3999">
                <a:solidFill>
                  <a:srgbClr val="473325"/>
                </a:solidFill>
                <a:latin typeface="Glacial Indifference"/>
                <a:ea typeface="Glacial Indifference"/>
                <a:cs typeface="Glacial Indifference"/>
                <a:sym typeface="Glacial Indifference"/>
              </a:rPr>
              <a:t>“I </a:t>
            </a:r>
            <a:r>
              <a:rPr lang="en-US" b="true" sz="3999">
                <a:solidFill>
                  <a:srgbClr val="473325"/>
                </a:solidFill>
                <a:latin typeface="Glacial Indifference Bold"/>
                <a:ea typeface="Glacial Indifference Bold"/>
                <a:cs typeface="Glacial Indifference Bold"/>
                <a:sym typeface="Glacial Indifference Bold"/>
              </a:rPr>
              <a:t>remember calling </a:t>
            </a:r>
            <a:r>
              <a:rPr lang="en-US" sz="3999">
                <a:solidFill>
                  <a:srgbClr val="473325"/>
                </a:solidFill>
                <a:latin typeface="Glacial Indifference"/>
                <a:ea typeface="Glacial Indifference"/>
                <a:cs typeface="Glacial Indifference"/>
                <a:sym typeface="Glacial Indifference"/>
              </a:rPr>
              <a:t>her”           (having a memory of calling her)”</a:t>
            </a:r>
          </a:p>
        </p:txBody>
      </p:sp>
      <p:sp>
        <p:nvSpPr>
          <p:cNvPr name="TextBox 14" id="14"/>
          <p:cNvSpPr txBox="true"/>
          <p:nvPr/>
        </p:nvSpPr>
        <p:spPr>
          <a:xfrm rot="0">
            <a:off x="9671853" y="7863407"/>
            <a:ext cx="7945234" cy="1393826"/>
          </a:xfrm>
          <a:prstGeom prst="rect">
            <a:avLst/>
          </a:prstGeom>
        </p:spPr>
        <p:txBody>
          <a:bodyPr anchor="t" rtlCol="false" tIns="0" lIns="0" bIns="0" rIns="0">
            <a:spAutoFit/>
          </a:bodyPr>
          <a:lstStyle/>
          <a:p>
            <a:pPr algn="l" marL="863588" indent="-431794" lvl="1">
              <a:lnSpc>
                <a:spcPts val="5599"/>
              </a:lnSpc>
              <a:buFont typeface="Arial"/>
              <a:buChar char="•"/>
            </a:pPr>
            <a:r>
              <a:rPr lang="en-US" sz="3999">
                <a:solidFill>
                  <a:srgbClr val="473325"/>
                </a:solidFill>
                <a:latin typeface="Glacial Indifference"/>
                <a:ea typeface="Glacial Indifference"/>
                <a:cs typeface="Glacial Indifference"/>
                <a:sym typeface="Glacial Indifference"/>
              </a:rPr>
              <a:t>“I </a:t>
            </a:r>
            <a:r>
              <a:rPr lang="en-US" b="true" sz="3999">
                <a:solidFill>
                  <a:srgbClr val="473325"/>
                </a:solidFill>
                <a:latin typeface="Glacial Indifference Bold"/>
                <a:ea typeface="Glacial Indifference Bold"/>
                <a:cs typeface="Glacial Indifference Bold"/>
                <a:sym typeface="Glacial Indifference Bold"/>
              </a:rPr>
              <a:t>remembered to call</a:t>
            </a:r>
            <a:r>
              <a:rPr lang="en-US" sz="3999">
                <a:solidFill>
                  <a:srgbClr val="473325"/>
                </a:solidFill>
                <a:latin typeface="Glacial Indifference"/>
                <a:ea typeface="Glacial Indifference"/>
                <a:cs typeface="Glacial Indifference"/>
                <a:sym typeface="Glacial Indifference"/>
              </a:rPr>
              <a:t> her </a:t>
            </a:r>
          </a:p>
          <a:p>
            <a:pPr algn="l">
              <a:lnSpc>
                <a:spcPts val="5599"/>
              </a:lnSpc>
            </a:pPr>
            <a:r>
              <a:rPr lang="en-US" sz="3999">
                <a:solidFill>
                  <a:srgbClr val="473325"/>
                </a:solidFill>
                <a:latin typeface="Glacial Indifference"/>
                <a:ea typeface="Glacial Indifference"/>
                <a:cs typeface="Glacial Indifference"/>
                <a:sym typeface="Glacial Indifference"/>
              </a:rPr>
              <a:t>       (I didn’t forget to call her)”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4E9D9"/>
        </a:solidFill>
      </p:bgPr>
    </p:bg>
    <p:spTree>
      <p:nvGrpSpPr>
        <p:cNvPr id="1" name=""/>
        <p:cNvGrpSpPr/>
        <p:nvPr/>
      </p:nvGrpSpPr>
      <p:grpSpPr>
        <a:xfrm>
          <a:off x="0" y="0"/>
          <a:ext cx="0" cy="0"/>
          <a:chOff x="0" y="0"/>
          <a:chExt cx="0" cy="0"/>
        </a:xfrm>
      </p:grpSpPr>
      <p:sp>
        <p:nvSpPr>
          <p:cNvPr name="TextBox 2" id="2"/>
          <p:cNvSpPr txBox="true"/>
          <p:nvPr/>
        </p:nvSpPr>
        <p:spPr>
          <a:xfrm rot="0">
            <a:off x="1590537" y="969639"/>
            <a:ext cx="13150427" cy="7509522"/>
          </a:xfrm>
          <a:prstGeom prst="rect">
            <a:avLst/>
          </a:prstGeom>
        </p:spPr>
        <p:txBody>
          <a:bodyPr anchor="t" rtlCol="false" tIns="0" lIns="0" bIns="0" rIns="0">
            <a:spAutoFit/>
          </a:bodyPr>
          <a:lstStyle/>
          <a:p>
            <a:pPr algn="ctr">
              <a:lnSpc>
                <a:spcPts val="61435"/>
              </a:lnSpc>
            </a:pPr>
            <a:r>
              <a:rPr lang="en-US" sz="43882" b="true">
                <a:solidFill>
                  <a:srgbClr val="4A3222"/>
                </a:solidFill>
                <a:latin typeface="Amatic SC Bold"/>
                <a:ea typeface="Amatic SC Bold"/>
                <a:cs typeface="Amatic SC Bold"/>
                <a:sym typeface="Amatic SC Bold"/>
              </a:rPr>
              <a:t>Thanks! </a:t>
            </a:r>
          </a:p>
        </p:txBody>
      </p:sp>
      <p:sp>
        <p:nvSpPr>
          <p:cNvPr name="Freeform 3" id="3"/>
          <p:cNvSpPr/>
          <p:nvPr/>
        </p:nvSpPr>
        <p:spPr>
          <a:xfrm flipH="false" flipV="false" rot="0">
            <a:off x="15458782" y="2330712"/>
            <a:ext cx="2425493" cy="7956288"/>
          </a:xfrm>
          <a:custGeom>
            <a:avLst/>
            <a:gdLst/>
            <a:ahLst/>
            <a:cxnLst/>
            <a:rect r="r" b="b" t="t" l="l"/>
            <a:pathLst>
              <a:path h="7956288" w="2425493">
                <a:moveTo>
                  <a:pt x="0" y="0"/>
                </a:moveTo>
                <a:lnTo>
                  <a:pt x="2425492" y="0"/>
                </a:lnTo>
                <a:lnTo>
                  <a:pt x="2425492" y="7956288"/>
                </a:lnTo>
                <a:lnTo>
                  <a:pt x="0" y="79562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02889" y="371706"/>
            <a:ext cx="15676540" cy="2047888"/>
          </a:xfrm>
          <a:prstGeom prst="rect">
            <a:avLst/>
          </a:prstGeom>
        </p:spPr>
        <p:txBody>
          <a:bodyPr anchor="t" rtlCol="false" tIns="0" lIns="0" bIns="0" rIns="0">
            <a:spAutoFit/>
          </a:bodyPr>
          <a:lstStyle/>
          <a:p>
            <a:pPr algn="ctr">
              <a:lnSpc>
                <a:spcPts val="16799"/>
              </a:lnSpc>
            </a:pPr>
            <a:r>
              <a:rPr lang="en-US" sz="11999" b="true">
                <a:solidFill>
                  <a:srgbClr val="4A3222"/>
                </a:solidFill>
                <a:latin typeface="Amatic SC Bold"/>
                <a:ea typeface="Amatic SC Bold"/>
                <a:cs typeface="Amatic SC Bold"/>
                <a:sym typeface="Amatic SC Bold"/>
              </a:rPr>
              <a:t>teacher resources page</a:t>
            </a:r>
          </a:p>
        </p:txBody>
      </p:sp>
      <p:sp>
        <p:nvSpPr>
          <p:cNvPr name="Freeform 3" id="3"/>
          <p:cNvSpPr/>
          <p:nvPr/>
        </p:nvSpPr>
        <p:spPr>
          <a:xfrm flipH="false" flipV="false" rot="0">
            <a:off x="3456488" y="3250069"/>
            <a:ext cx="1051175" cy="2523874"/>
          </a:xfrm>
          <a:custGeom>
            <a:avLst/>
            <a:gdLst/>
            <a:ahLst/>
            <a:cxnLst/>
            <a:rect r="r" b="b" t="t" l="l"/>
            <a:pathLst>
              <a:path h="2523874" w="1051175">
                <a:moveTo>
                  <a:pt x="0" y="0"/>
                </a:moveTo>
                <a:lnTo>
                  <a:pt x="1051175" y="0"/>
                </a:lnTo>
                <a:lnTo>
                  <a:pt x="1051175" y="2523874"/>
                </a:lnTo>
                <a:lnTo>
                  <a:pt x="0" y="25238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990459" y="3520055"/>
            <a:ext cx="1852230" cy="2253888"/>
          </a:xfrm>
          <a:custGeom>
            <a:avLst/>
            <a:gdLst/>
            <a:ahLst/>
            <a:cxnLst/>
            <a:rect r="r" b="b" t="t" l="l"/>
            <a:pathLst>
              <a:path h="2253888" w="1852230">
                <a:moveTo>
                  <a:pt x="0" y="0"/>
                </a:moveTo>
                <a:lnTo>
                  <a:pt x="1852230" y="0"/>
                </a:lnTo>
                <a:lnTo>
                  <a:pt x="1852230" y="2253888"/>
                </a:lnTo>
                <a:lnTo>
                  <a:pt x="0" y="22538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425909" y="3169638"/>
            <a:ext cx="1144397" cy="2604305"/>
          </a:xfrm>
          <a:custGeom>
            <a:avLst/>
            <a:gdLst/>
            <a:ahLst/>
            <a:cxnLst/>
            <a:rect r="r" b="b" t="t" l="l"/>
            <a:pathLst>
              <a:path h="2604305" w="1144397">
                <a:moveTo>
                  <a:pt x="0" y="0"/>
                </a:moveTo>
                <a:lnTo>
                  <a:pt x="1144396" y="0"/>
                </a:lnTo>
                <a:lnTo>
                  <a:pt x="1144396" y="2604305"/>
                </a:lnTo>
                <a:lnTo>
                  <a:pt x="0" y="26043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0888" y="2683265"/>
            <a:ext cx="927518" cy="3090678"/>
          </a:xfrm>
          <a:custGeom>
            <a:avLst/>
            <a:gdLst/>
            <a:ahLst/>
            <a:cxnLst/>
            <a:rect r="r" b="b" t="t" l="l"/>
            <a:pathLst>
              <a:path h="3090678" w="927518">
                <a:moveTo>
                  <a:pt x="0" y="0"/>
                </a:moveTo>
                <a:lnTo>
                  <a:pt x="927517" y="0"/>
                </a:lnTo>
                <a:lnTo>
                  <a:pt x="927517" y="3090678"/>
                </a:lnTo>
                <a:lnTo>
                  <a:pt x="0" y="30906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856133" y="3250069"/>
            <a:ext cx="1831507" cy="2523874"/>
          </a:xfrm>
          <a:custGeom>
            <a:avLst/>
            <a:gdLst/>
            <a:ahLst/>
            <a:cxnLst/>
            <a:rect r="r" b="b" t="t" l="l"/>
            <a:pathLst>
              <a:path h="2523874" w="1831507">
                <a:moveTo>
                  <a:pt x="0" y="0"/>
                </a:moveTo>
                <a:lnTo>
                  <a:pt x="1831507" y="0"/>
                </a:lnTo>
                <a:lnTo>
                  <a:pt x="1831507" y="2523874"/>
                </a:lnTo>
                <a:lnTo>
                  <a:pt x="0" y="25238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0871512" y="6594322"/>
            <a:ext cx="2882469" cy="2927649"/>
          </a:xfrm>
          <a:custGeom>
            <a:avLst/>
            <a:gdLst/>
            <a:ahLst/>
            <a:cxnLst/>
            <a:rect r="r" b="b" t="t" l="l"/>
            <a:pathLst>
              <a:path h="2927649" w="2882469">
                <a:moveTo>
                  <a:pt x="0" y="0"/>
                </a:moveTo>
                <a:lnTo>
                  <a:pt x="2882469" y="0"/>
                </a:lnTo>
                <a:lnTo>
                  <a:pt x="2882469" y="2927648"/>
                </a:lnTo>
                <a:lnTo>
                  <a:pt x="0" y="292764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3338189" y="3645282"/>
            <a:ext cx="1686985" cy="2128661"/>
          </a:xfrm>
          <a:custGeom>
            <a:avLst/>
            <a:gdLst/>
            <a:ahLst/>
            <a:cxnLst/>
            <a:rect r="r" b="b" t="t" l="l"/>
            <a:pathLst>
              <a:path h="2128661" w="1686985">
                <a:moveTo>
                  <a:pt x="0" y="0"/>
                </a:moveTo>
                <a:lnTo>
                  <a:pt x="1686985" y="0"/>
                </a:lnTo>
                <a:lnTo>
                  <a:pt x="1686985" y="2128661"/>
                </a:lnTo>
                <a:lnTo>
                  <a:pt x="0" y="212866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0">
            <a:off x="1327350" y="5773943"/>
            <a:ext cx="1033012" cy="3748028"/>
          </a:xfrm>
          <a:custGeom>
            <a:avLst/>
            <a:gdLst/>
            <a:ahLst/>
            <a:cxnLst/>
            <a:rect r="r" b="b" t="t" l="l"/>
            <a:pathLst>
              <a:path h="3748028" w="1033012">
                <a:moveTo>
                  <a:pt x="0" y="0"/>
                </a:moveTo>
                <a:lnTo>
                  <a:pt x="1033012" y="0"/>
                </a:lnTo>
                <a:lnTo>
                  <a:pt x="1033012" y="3748027"/>
                </a:lnTo>
                <a:lnTo>
                  <a:pt x="0" y="374802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1" id="11"/>
          <p:cNvSpPr/>
          <p:nvPr/>
        </p:nvSpPr>
        <p:spPr>
          <a:xfrm flipH="false" flipV="false" rot="0">
            <a:off x="2607277" y="7012511"/>
            <a:ext cx="2340799" cy="2509460"/>
          </a:xfrm>
          <a:custGeom>
            <a:avLst/>
            <a:gdLst/>
            <a:ahLst/>
            <a:cxnLst/>
            <a:rect r="r" b="b" t="t" l="l"/>
            <a:pathLst>
              <a:path h="2509460" w="2340799">
                <a:moveTo>
                  <a:pt x="0" y="0"/>
                </a:moveTo>
                <a:lnTo>
                  <a:pt x="2340799" y="0"/>
                </a:lnTo>
                <a:lnTo>
                  <a:pt x="2340799" y="2509459"/>
                </a:lnTo>
                <a:lnTo>
                  <a:pt x="0" y="250945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2" id="12"/>
          <p:cNvSpPr/>
          <p:nvPr/>
        </p:nvSpPr>
        <p:spPr>
          <a:xfrm flipH="false" flipV="false" rot="0">
            <a:off x="14753027" y="3567572"/>
            <a:ext cx="2201940" cy="2206371"/>
          </a:xfrm>
          <a:custGeom>
            <a:avLst/>
            <a:gdLst/>
            <a:ahLst/>
            <a:cxnLst/>
            <a:rect r="r" b="b" t="t" l="l"/>
            <a:pathLst>
              <a:path h="2206371" w="2201940">
                <a:moveTo>
                  <a:pt x="0" y="0"/>
                </a:moveTo>
                <a:lnTo>
                  <a:pt x="2201940" y="0"/>
                </a:lnTo>
                <a:lnTo>
                  <a:pt x="2201940" y="2206371"/>
                </a:lnTo>
                <a:lnTo>
                  <a:pt x="0" y="220637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3" id="13"/>
          <p:cNvSpPr/>
          <p:nvPr/>
        </p:nvSpPr>
        <p:spPr>
          <a:xfrm flipH="false" flipV="false" rot="0">
            <a:off x="14170428" y="6035854"/>
            <a:ext cx="1649269" cy="3486116"/>
          </a:xfrm>
          <a:custGeom>
            <a:avLst/>
            <a:gdLst/>
            <a:ahLst/>
            <a:cxnLst/>
            <a:rect r="r" b="b" t="t" l="l"/>
            <a:pathLst>
              <a:path h="3486116" w="1649269">
                <a:moveTo>
                  <a:pt x="0" y="0"/>
                </a:moveTo>
                <a:lnTo>
                  <a:pt x="1649269" y="0"/>
                </a:lnTo>
                <a:lnTo>
                  <a:pt x="1649269" y="3486116"/>
                </a:lnTo>
                <a:lnTo>
                  <a:pt x="0" y="348611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4" id="14"/>
          <p:cNvSpPr/>
          <p:nvPr/>
        </p:nvSpPr>
        <p:spPr>
          <a:xfrm flipH="false" flipV="false" rot="0">
            <a:off x="5191004" y="6897844"/>
            <a:ext cx="2878460" cy="2624126"/>
          </a:xfrm>
          <a:custGeom>
            <a:avLst/>
            <a:gdLst/>
            <a:ahLst/>
            <a:cxnLst/>
            <a:rect r="r" b="b" t="t" l="l"/>
            <a:pathLst>
              <a:path h="2624126" w="2878460">
                <a:moveTo>
                  <a:pt x="0" y="0"/>
                </a:moveTo>
                <a:lnTo>
                  <a:pt x="2878459" y="0"/>
                </a:lnTo>
                <a:lnTo>
                  <a:pt x="2878459" y="2624126"/>
                </a:lnTo>
                <a:lnTo>
                  <a:pt x="0" y="262412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5" id="15"/>
          <p:cNvSpPr/>
          <p:nvPr/>
        </p:nvSpPr>
        <p:spPr>
          <a:xfrm flipH="false" flipV="false" rot="0">
            <a:off x="8410225" y="6788286"/>
            <a:ext cx="2046087" cy="2733684"/>
          </a:xfrm>
          <a:custGeom>
            <a:avLst/>
            <a:gdLst/>
            <a:ahLst/>
            <a:cxnLst/>
            <a:rect r="r" b="b" t="t" l="l"/>
            <a:pathLst>
              <a:path h="2733684" w="2046087">
                <a:moveTo>
                  <a:pt x="0" y="0"/>
                </a:moveTo>
                <a:lnTo>
                  <a:pt x="2046087" y="0"/>
                </a:lnTo>
                <a:lnTo>
                  <a:pt x="2046087" y="2733684"/>
                </a:lnTo>
                <a:lnTo>
                  <a:pt x="0" y="273368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6" id="16"/>
          <p:cNvSpPr/>
          <p:nvPr/>
        </p:nvSpPr>
        <p:spPr>
          <a:xfrm flipH="false" flipV="false" rot="0">
            <a:off x="15887076" y="6035854"/>
            <a:ext cx="1062751" cy="3486116"/>
          </a:xfrm>
          <a:custGeom>
            <a:avLst/>
            <a:gdLst/>
            <a:ahLst/>
            <a:cxnLst/>
            <a:rect r="r" b="b" t="t" l="l"/>
            <a:pathLst>
              <a:path h="3486116" w="1062751">
                <a:moveTo>
                  <a:pt x="0" y="0"/>
                </a:moveTo>
                <a:lnTo>
                  <a:pt x="1062751" y="0"/>
                </a:lnTo>
                <a:lnTo>
                  <a:pt x="1062751" y="3486116"/>
                </a:lnTo>
                <a:lnTo>
                  <a:pt x="0" y="3486116"/>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7" id="17"/>
          <p:cNvSpPr/>
          <p:nvPr/>
        </p:nvSpPr>
        <p:spPr>
          <a:xfrm flipH="false" flipV="false" rot="0">
            <a:off x="1332491" y="3226199"/>
            <a:ext cx="1725553" cy="2547744"/>
          </a:xfrm>
          <a:custGeom>
            <a:avLst/>
            <a:gdLst/>
            <a:ahLst/>
            <a:cxnLst/>
            <a:rect r="r" b="b" t="t" l="l"/>
            <a:pathLst>
              <a:path h="2547744" w="1725553">
                <a:moveTo>
                  <a:pt x="0" y="0"/>
                </a:moveTo>
                <a:lnTo>
                  <a:pt x="1725553" y="0"/>
                </a:lnTo>
                <a:lnTo>
                  <a:pt x="1725553" y="2547744"/>
                </a:lnTo>
                <a:lnTo>
                  <a:pt x="0" y="2547744"/>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DAHWsv1bPwQ</dc:identifier>
  <dcterms:modified xsi:type="dcterms:W3CDTF">2011-08-01T06:04:30Z</dcterms:modified>
  <cp:revision>1</cp:revision>
  <dc:title>Gerunds Or Infinitives Presentation</dc:title>
</cp:coreProperties>
</file>